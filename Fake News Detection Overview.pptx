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2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58" r:id="rId20"/>
    <p:sldId id="275" r:id="rId21"/>
  </p:sldIdLst>
  <p:sldSz cx="18300700" cy="10299700"/>
  <p:notesSz cx="18300700" cy="102997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A25B"/>
    <a:srgbClr val="D2D2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050725" y="772475"/>
            <a:ext cx="12201075" cy="3862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9763" y="773113"/>
            <a:ext cx="6862762" cy="3862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6fa69b32e6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9763" y="773113"/>
            <a:ext cx="6862762" cy="3862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26fa69b32e6_0_129:notes"/>
          <p:cNvSpPr txBox="1">
            <a:spLocks noGrp="1"/>
          </p:cNvSpPr>
          <p:nvPr>
            <p:ph type="body" idx="1"/>
          </p:nvPr>
        </p:nvSpPr>
        <p:spPr>
          <a:xfrm>
            <a:off x="1830050" y="4892350"/>
            <a:ext cx="14640600" cy="46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>
            <a:spLocks noGrp="1"/>
          </p:cNvSpPr>
          <p:nvPr>
            <p:ph type="body" idx="1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9763" y="773113"/>
            <a:ext cx="6862762" cy="3862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9763" y="773113"/>
            <a:ext cx="6862762" cy="3862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 txBox="1">
            <a:spLocks noGrp="1"/>
          </p:cNvSpPr>
          <p:nvPr>
            <p:ph type="body" idx="1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50725" y="772475"/>
            <a:ext cx="12201075" cy="3862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 txBox="1">
            <a:spLocks noGrp="1"/>
          </p:cNvSpPr>
          <p:nvPr>
            <p:ph type="body" idx="1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50725" y="772475"/>
            <a:ext cx="12201075" cy="3862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50725" y="772475"/>
            <a:ext cx="12201075" cy="3862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>
            <a:spLocks noGrp="1"/>
          </p:cNvSpPr>
          <p:nvPr>
            <p:ph type="body" idx="1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9763" y="773113"/>
            <a:ext cx="6862762" cy="3862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 txBox="1">
            <a:spLocks noGrp="1"/>
          </p:cNvSpPr>
          <p:nvPr>
            <p:ph type="body" idx="1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9763" y="773113"/>
            <a:ext cx="6862762" cy="3862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6fa69b32e6_0_35:notes"/>
          <p:cNvSpPr txBox="1">
            <a:spLocks noGrp="1"/>
          </p:cNvSpPr>
          <p:nvPr>
            <p:ph type="body" idx="1"/>
          </p:nvPr>
        </p:nvSpPr>
        <p:spPr>
          <a:xfrm>
            <a:off x="1830050" y="4892350"/>
            <a:ext cx="14640600" cy="46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26fa69b32e6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9763" y="773113"/>
            <a:ext cx="6862762" cy="3862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6fa69b32e6_0_52:notes"/>
          <p:cNvSpPr txBox="1">
            <a:spLocks noGrp="1"/>
          </p:cNvSpPr>
          <p:nvPr>
            <p:ph type="body" idx="1"/>
          </p:nvPr>
        </p:nvSpPr>
        <p:spPr>
          <a:xfrm>
            <a:off x="1830050" y="4892350"/>
            <a:ext cx="14640600" cy="46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g26fa69b32e6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9763" y="773113"/>
            <a:ext cx="6862762" cy="3862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>
            <a:spLocks noGrp="1"/>
          </p:cNvSpPr>
          <p:nvPr>
            <p:ph type="body" idx="1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9763" y="773113"/>
            <a:ext cx="6862762" cy="3862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fa69b32e6_0_69:notes"/>
          <p:cNvSpPr txBox="1">
            <a:spLocks noGrp="1"/>
          </p:cNvSpPr>
          <p:nvPr>
            <p:ph type="body" idx="1"/>
          </p:nvPr>
        </p:nvSpPr>
        <p:spPr>
          <a:xfrm>
            <a:off x="1830050" y="4892350"/>
            <a:ext cx="14640600" cy="46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26fa69b32e6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9763" y="773113"/>
            <a:ext cx="6862762" cy="3862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 txBox="1">
            <a:spLocks noGrp="1"/>
          </p:cNvSpPr>
          <p:nvPr>
            <p:ph type="body" idx="1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50725" y="772475"/>
            <a:ext cx="12201075" cy="3862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:notes"/>
          <p:cNvSpPr txBox="1">
            <a:spLocks noGrp="1"/>
          </p:cNvSpPr>
          <p:nvPr>
            <p:ph type="body" idx="1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50725" y="772475"/>
            <a:ext cx="12201075" cy="3862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 txBox="1">
            <a:spLocks noGrp="1"/>
          </p:cNvSpPr>
          <p:nvPr>
            <p:ph type="body" idx="1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9763" y="773113"/>
            <a:ext cx="6862762" cy="3862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6fa69b32e6_0_101:notes"/>
          <p:cNvSpPr txBox="1">
            <a:spLocks noGrp="1"/>
          </p:cNvSpPr>
          <p:nvPr>
            <p:ph type="body" idx="1"/>
          </p:nvPr>
        </p:nvSpPr>
        <p:spPr>
          <a:xfrm>
            <a:off x="1830050" y="4892350"/>
            <a:ext cx="14640600" cy="46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g26fa69b32e6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9763" y="773113"/>
            <a:ext cx="6862762" cy="3862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6fa69b32e6_0_117:notes"/>
          <p:cNvSpPr txBox="1">
            <a:spLocks noGrp="1"/>
          </p:cNvSpPr>
          <p:nvPr>
            <p:ph type="body" idx="1"/>
          </p:nvPr>
        </p:nvSpPr>
        <p:spPr>
          <a:xfrm>
            <a:off x="1830050" y="4892350"/>
            <a:ext cx="14640600" cy="46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26fa69b32e6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9763" y="773113"/>
            <a:ext cx="6862762" cy="3862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6fa69b32e6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9763" y="773113"/>
            <a:ext cx="6862762" cy="3862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6fa69b32e6_0_135:notes"/>
          <p:cNvSpPr txBox="1">
            <a:spLocks noGrp="1"/>
          </p:cNvSpPr>
          <p:nvPr>
            <p:ph type="body" idx="1"/>
          </p:nvPr>
        </p:nvSpPr>
        <p:spPr>
          <a:xfrm>
            <a:off x="1830050" y="4892350"/>
            <a:ext cx="14640600" cy="46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:notes"/>
          <p:cNvSpPr txBox="1">
            <a:spLocks noGrp="1"/>
          </p:cNvSpPr>
          <p:nvPr>
            <p:ph type="body" idx="1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50725" y="772475"/>
            <a:ext cx="12201075" cy="3862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obj">
  <p:cSld name="OBJECT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/>
          <p:nvPr/>
        </p:nvSpPr>
        <p:spPr>
          <a:xfrm>
            <a:off x="466559" y="506152"/>
            <a:ext cx="17355185" cy="9275445"/>
          </a:xfrm>
          <a:custGeom>
            <a:avLst/>
            <a:gdLst/>
            <a:ahLst/>
            <a:cxnLst/>
            <a:rect l="l" t="t" r="r" b="b"/>
            <a:pathLst>
              <a:path w="17355185" h="9275445" extrusionOk="0">
                <a:moveTo>
                  <a:pt x="8677427" y="9275008"/>
                </a:moveTo>
                <a:lnTo>
                  <a:pt x="0" y="9275008"/>
                </a:lnTo>
                <a:lnTo>
                  <a:pt x="0" y="0"/>
                </a:lnTo>
                <a:lnTo>
                  <a:pt x="17354842" y="0"/>
                </a:lnTo>
                <a:lnTo>
                  <a:pt x="17354842" y="9275008"/>
                </a:lnTo>
                <a:lnTo>
                  <a:pt x="8677427" y="9275008"/>
                </a:lnTo>
                <a:close/>
              </a:path>
            </a:pathLst>
          </a:custGeom>
          <a:noFill/>
          <a:ln w="18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4" name="Google Shape;14;p2"/>
          <p:cNvSpPr txBox="1">
            <a:spLocks noGrp="1"/>
          </p:cNvSpPr>
          <p:nvPr>
            <p:ph type="title"/>
          </p:nvPr>
        </p:nvSpPr>
        <p:spPr>
          <a:xfrm>
            <a:off x="2059800" y="2444693"/>
            <a:ext cx="14181099" cy="68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350"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466559" y="506152"/>
            <a:ext cx="17355185" cy="9275445"/>
          </a:xfrm>
          <a:custGeom>
            <a:avLst/>
            <a:gdLst/>
            <a:ahLst/>
            <a:cxnLst/>
            <a:rect l="l" t="t" r="r" b="b"/>
            <a:pathLst>
              <a:path w="17355185" h="9275445" extrusionOk="0">
                <a:moveTo>
                  <a:pt x="8677427" y="9275008"/>
                </a:moveTo>
                <a:lnTo>
                  <a:pt x="0" y="9275008"/>
                </a:lnTo>
                <a:lnTo>
                  <a:pt x="0" y="0"/>
                </a:lnTo>
                <a:lnTo>
                  <a:pt x="17354842" y="0"/>
                </a:lnTo>
                <a:lnTo>
                  <a:pt x="17354842" y="9275008"/>
                </a:lnTo>
                <a:lnTo>
                  <a:pt x="8677427" y="9275008"/>
                </a:lnTo>
                <a:close/>
              </a:path>
            </a:pathLst>
          </a:custGeom>
          <a:noFill/>
          <a:ln w="18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1" name="Google Shape;21;p3"/>
          <p:cNvSpPr/>
          <p:nvPr/>
        </p:nvSpPr>
        <p:spPr>
          <a:xfrm>
            <a:off x="15376257" y="8753758"/>
            <a:ext cx="1948180" cy="454025"/>
          </a:xfrm>
          <a:custGeom>
            <a:avLst/>
            <a:gdLst/>
            <a:ahLst/>
            <a:cxnLst/>
            <a:rect l="l" t="t" r="r" b="b"/>
            <a:pathLst>
              <a:path w="1948180" h="454025" extrusionOk="0">
                <a:moveTo>
                  <a:pt x="226842" y="453516"/>
                </a:moveTo>
                <a:lnTo>
                  <a:pt x="0" y="453516"/>
                </a:lnTo>
                <a:lnTo>
                  <a:pt x="0" y="0"/>
                </a:lnTo>
                <a:lnTo>
                  <a:pt x="453557" y="0"/>
                </a:lnTo>
                <a:lnTo>
                  <a:pt x="453557" y="453516"/>
                </a:lnTo>
                <a:lnTo>
                  <a:pt x="226842" y="453516"/>
                </a:lnTo>
                <a:close/>
              </a:path>
              <a:path w="1948180" h="454025" extrusionOk="0">
                <a:moveTo>
                  <a:pt x="973415" y="453516"/>
                </a:moveTo>
                <a:lnTo>
                  <a:pt x="746700" y="453516"/>
                </a:lnTo>
                <a:lnTo>
                  <a:pt x="746700" y="0"/>
                </a:lnTo>
                <a:lnTo>
                  <a:pt x="1200258" y="0"/>
                </a:lnTo>
                <a:lnTo>
                  <a:pt x="1200258" y="453516"/>
                </a:lnTo>
                <a:lnTo>
                  <a:pt x="973415" y="453516"/>
                </a:lnTo>
                <a:close/>
              </a:path>
              <a:path w="1948180" h="454025" extrusionOk="0">
                <a:moveTo>
                  <a:pt x="1720877" y="453516"/>
                </a:moveTo>
                <a:lnTo>
                  <a:pt x="1494035" y="453516"/>
                </a:lnTo>
                <a:lnTo>
                  <a:pt x="1494035" y="0"/>
                </a:lnTo>
                <a:lnTo>
                  <a:pt x="1947593" y="0"/>
                </a:lnTo>
                <a:lnTo>
                  <a:pt x="1947593" y="453516"/>
                </a:lnTo>
                <a:lnTo>
                  <a:pt x="1720877" y="453516"/>
                </a:lnTo>
                <a:close/>
              </a:path>
            </a:pathLst>
          </a:custGeom>
          <a:noFill/>
          <a:ln w="18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2" name="Google Shape;22;p3"/>
          <p:cNvSpPr txBox="1">
            <a:spLocks noGrp="1"/>
          </p:cNvSpPr>
          <p:nvPr>
            <p:ph type="ctrTitle"/>
          </p:nvPr>
        </p:nvSpPr>
        <p:spPr>
          <a:xfrm>
            <a:off x="2448852" y="2442953"/>
            <a:ext cx="13402995" cy="916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850"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2745105" y="5767832"/>
            <a:ext cx="12810490" cy="2574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2059800" y="2444693"/>
            <a:ext cx="14181099" cy="68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350"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15035" y="2368931"/>
            <a:ext cx="16470630" cy="679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ftr" idx="11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2059800" y="2444693"/>
            <a:ext cx="14181099" cy="68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350"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915035" y="2368931"/>
            <a:ext cx="7960804" cy="679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9424860" y="2368931"/>
            <a:ext cx="7960804" cy="679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ftr" idx="11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059800" y="2444693"/>
            <a:ext cx="14181099" cy="68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35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15035" y="2368931"/>
            <a:ext cx="16470630" cy="679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ftr" idx="11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229850" y="3206350"/>
            <a:ext cx="11876100" cy="17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3825" rIns="0" bIns="0" anchor="t" anchorCtr="0">
            <a:spAutoFit/>
          </a:bodyPr>
          <a:lstStyle/>
          <a:p>
            <a:pPr marL="12700" marR="5080" lvl="0" indent="0" algn="l" rtl="0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I</a:t>
            </a:r>
            <a:r>
              <a:rPr lang="en-US" sz="3800" dirty="0"/>
              <a:t>ndian Institute Of Information Technology Pune</a:t>
            </a:r>
            <a:endParaRPr sz="3800" dirty="0"/>
          </a:p>
          <a:p>
            <a:pPr marL="12700" marR="5080" lvl="0" indent="0" algn="l" rtl="0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dirty="0"/>
              <a:t>  </a:t>
            </a:r>
            <a:endParaRPr sz="3800" dirty="0"/>
          </a:p>
          <a:p>
            <a:pPr marL="12700" marR="5080" lvl="0" indent="0" algn="l" rtl="0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/>
              <a:t>         Department of Computer Science and Engineering</a:t>
            </a:r>
            <a:r>
              <a:rPr lang="en-US" sz="3800" dirty="0"/>
              <a:t>       </a:t>
            </a:r>
            <a:endParaRPr sz="2900" dirty="0"/>
          </a:p>
        </p:txBody>
      </p:sp>
      <p:grpSp>
        <p:nvGrpSpPr>
          <p:cNvPr id="49" name="Google Shape;49;p7"/>
          <p:cNvGrpSpPr/>
          <p:nvPr/>
        </p:nvGrpSpPr>
        <p:grpSpPr>
          <a:xfrm>
            <a:off x="5015878" y="1781992"/>
            <a:ext cx="8256270" cy="6478088"/>
            <a:chOff x="5015878" y="1781992"/>
            <a:chExt cx="8256270" cy="6478088"/>
          </a:xfrm>
        </p:grpSpPr>
        <p:sp>
          <p:nvSpPr>
            <p:cNvPr id="50" name="Google Shape;50;p7"/>
            <p:cNvSpPr/>
            <p:nvPr/>
          </p:nvSpPr>
          <p:spPr>
            <a:xfrm>
              <a:off x="5015878" y="8239760"/>
              <a:ext cx="8256270" cy="20320"/>
            </a:xfrm>
            <a:custGeom>
              <a:avLst/>
              <a:gdLst/>
              <a:ahLst/>
              <a:cxnLst/>
              <a:rect l="l" t="t" r="r" b="b"/>
              <a:pathLst>
                <a:path w="8256269" h="20320" extrusionOk="0">
                  <a:moveTo>
                    <a:pt x="8256257" y="1435"/>
                  </a:moveTo>
                  <a:lnTo>
                    <a:pt x="0" y="0"/>
                  </a:lnTo>
                  <a:lnTo>
                    <a:pt x="0" y="18719"/>
                  </a:lnTo>
                  <a:lnTo>
                    <a:pt x="8256257" y="20154"/>
                  </a:lnTo>
                  <a:lnTo>
                    <a:pt x="8256257" y="14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8169820" y="1781992"/>
              <a:ext cx="1948180" cy="454025"/>
            </a:xfrm>
            <a:custGeom>
              <a:avLst/>
              <a:gdLst/>
              <a:ahLst/>
              <a:cxnLst/>
              <a:rect l="l" t="t" r="r" b="b"/>
              <a:pathLst>
                <a:path w="1948179" h="454025" extrusionOk="0">
                  <a:moveTo>
                    <a:pt x="226791" y="453525"/>
                  </a:moveTo>
                  <a:lnTo>
                    <a:pt x="0" y="453525"/>
                  </a:lnTo>
                  <a:lnTo>
                    <a:pt x="0" y="0"/>
                  </a:lnTo>
                  <a:lnTo>
                    <a:pt x="453595" y="0"/>
                  </a:lnTo>
                  <a:lnTo>
                    <a:pt x="453595" y="453525"/>
                  </a:lnTo>
                  <a:lnTo>
                    <a:pt x="226791" y="453525"/>
                  </a:lnTo>
                  <a:close/>
                </a:path>
                <a:path w="1948179" h="454025" extrusionOk="0">
                  <a:moveTo>
                    <a:pt x="974152" y="453525"/>
                  </a:moveTo>
                  <a:lnTo>
                    <a:pt x="747360" y="453525"/>
                  </a:lnTo>
                  <a:lnTo>
                    <a:pt x="747360" y="0"/>
                  </a:lnTo>
                  <a:lnTo>
                    <a:pt x="1200956" y="0"/>
                  </a:lnTo>
                  <a:lnTo>
                    <a:pt x="1200956" y="453525"/>
                  </a:lnTo>
                  <a:lnTo>
                    <a:pt x="974152" y="453525"/>
                  </a:lnTo>
                  <a:close/>
                </a:path>
                <a:path w="1948179" h="454025" extrusionOk="0">
                  <a:moveTo>
                    <a:pt x="1720788" y="453525"/>
                  </a:moveTo>
                  <a:lnTo>
                    <a:pt x="1493997" y="453525"/>
                  </a:lnTo>
                  <a:lnTo>
                    <a:pt x="1493997" y="0"/>
                  </a:lnTo>
                  <a:lnTo>
                    <a:pt x="1947593" y="0"/>
                  </a:lnTo>
                  <a:lnTo>
                    <a:pt x="1947593" y="453525"/>
                  </a:lnTo>
                  <a:lnTo>
                    <a:pt x="1720788" y="453525"/>
                  </a:lnTo>
                  <a:close/>
                </a:path>
              </a:pathLst>
            </a:custGeom>
            <a:noFill/>
            <a:ln w="18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52" name="Google Shape;52;p7"/>
          <p:cNvSpPr txBox="1"/>
          <p:nvPr/>
        </p:nvSpPr>
        <p:spPr>
          <a:xfrm>
            <a:off x="2450525" y="6048375"/>
            <a:ext cx="13767900" cy="21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marR="5080" lvl="0" indent="0" algn="ctr" rtl="0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6600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Fake News Detection Using </a:t>
            </a:r>
            <a:r>
              <a:rPr lang="en-US" sz="6600" dirty="0">
                <a:solidFill>
                  <a:srgbClr val="91EBCD"/>
                </a:solidFill>
                <a:latin typeface="Verdana"/>
                <a:ea typeface="Verdana"/>
                <a:cs typeface="Verdana"/>
                <a:sym typeface="Verdana"/>
              </a:rPr>
              <a:t>Data Science</a:t>
            </a:r>
            <a:endParaRPr sz="6600" dirty="0">
              <a:solidFill>
                <a:srgbClr val="91EBC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2B74F5-7113-82CA-BD22-532587688CB9}"/>
              </a:ext>
            </a:extLst>
          </p:cNvPr>
          <p:cNvSpPr txBox="1"/>
          <p:nvPr/>
        </p:nvSpPr>
        <p:spPr>
          <a:xfrm>
            <a:off x="12736130" y="8473725"/>
            <a:ext cx="4343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- Presented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by Vaibhav Sodhi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1237175" y="1254068"/>
            <a:ext cx="14181000" cy="64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>
                <a:solidFill>
                  <a:srgbClr val="F2F282"/>
                </a:solidFill>
              </a:rPr>
              <a:t>Overview:</a:t>
            </a:r>
            <a:endParaRPr sz="4200" b="1" dirty="0">
              <a:solidFill>
                <a:srgbClr val="F2F282"/>
              </a:solidFill>
            </a:endParaRPr>
          </a:p>
        </p:txBody>
      </p:sp>
      <p:sp>
        <p:nvSpPr>
          <p:cNvPr id="58" name="Google Shape;58;p8"/>
          <p:cNvSpPr txBox="1"/>
          <p:nvPr/>
        </p:nvSpPr>
        <p:spPr>
          <a:xfrm>
            <a:off x="1237175" y="2822875"/>
            <a:ext cx="11088900" cy="7509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44500" algn="l" rtl="0">
              <a:spcBef>
                <a:spcPts val="0"/>
              </a:spcBef>
              <a:spcAft>
                <a:spcPts val="0"/>
              </a:spcAft>
              <a:buClr>
                <a:srgbClr val="91EBCD"/>
              </a:buClr>
              <a:buSzPts val="3400"/>
              <a:buFont typeface="Calibri"/>
              <a:buAutoNum type="arabicParenR"/>
            </a:pPr>
            <a:r>
              <a:rPr lang="en-US" sz="3400" b="1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What is Data Science?</a:t>
            </a:r>
            <a:endParaRPr sz="3400" b="1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44500" algn="l" rtl="0">
              <a:spcBef>
                <a:spcPts val="0"/>
              </a:spcBef>
              <a:spcAft>
                <a:spcPts val="0"/>
              </a:spcAft>
              <a:buClr>
                <a:srgbClr val="91EBCD"/>
              </a:buClr>
              <a:buSzPts val="3400"/>
              <a:buFont typeface="Calibri"/>
              <a:buAutoNum type="arabicParenR"/>
            </a:pPr>
            <a:r>
              <a:rPr lang="en-US" sz="3400" b="1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Steps of Data Science Modeling</a:t>
            </a:r>
            <a:endParaRPr sz="3400" b="1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44500" algn="l" rtl="0">
              <a:spcBef>
                <a:spcPts val="0"/>
              </a:spcBef>
              <a:spcAft>
                <a:spcPts val="0"/>
              </a:spcAft>
              <a:buClr>
                <a:srgbClr val="91EBCD"/>
              </a:buClr>
              <a:buSzPts val="3400"/>
              <a:buFont typeface="Calibri"/>
              <a:buAutoNum type="arabicParenR"/>
            </a:pPr>
            <a:r>
              <a:rPr lang="en-US" sz="3400" b="1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Introduction To Problem Statement</a:t>
            </a:r>
            <a:endParaRPr sz="3400" b="1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44500" algn="l" rtl="0">
              <a:spcBef>
                <a:spcPts val="0"/>
              </a:spcBef>
              <a:spcAft>
                <a:spcPts val="0"/>
              </a:spcAft>
              <a:buClr>
                <a:srgbClr val="91EBCD"/>
              </a:buClr>
              <a:buSzPts val="3400"/>
              <a:buFont typeface="Calibri"/>
              <a:buAutoNum type="arabicParenR"/>
            </a:pPr>
            <a:r>
              <a:rPr lang="en-US" sz="3400" b="1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Plan of Action</a:t>
            </a:r>
            <a:endParaRPr sz="3400" b="1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44500" algn="l" rtl="0">
              <a:spcBef>
                <a:spcPts val="0"/>
              </a:spcBef>
              <a:spcAft>
                <a:spcPts val="0"/>
              </a:spcAft>
              <a:buClr>
                <a:srgbClr val="91EBCD"/>
              </a:buClr>
              <a:buSzPts val="3400"/>
              <a:buFont typeface="Calibri"/>
              <a:buAutoNum type="arabicParenR"/>
            </a:pPr>
            <a:r>
              <a:rPr lang="en-US" sz="3400" b="1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Dataset Required</a:t>
            </a:r>
            <a:endParaRPr sz="3400" b="1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44500" algn="l" rtl="0">
              <a:spcBef>
                <a:spcPts val="0"/>
              </a:spcBef>
              <a:spcAft>
                <a:spcPts val="0"/>
              </a:spcAft>
              <a:buClr>
                <a:srgbClr val="91EBCD"/>
              </a:buClr>
              <a:buSzPts val="3400"/>
              <a:buFont typeface="Calibri"/>
              <a:buAutoNum type="arabicParenR"/>
            </a:pPr>
            <a:r>
              <a:rPr lang="en-US" sz="3400" b="1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Features (Step 1)</a:t>
            </a:r>
            <a:endParaRPr sz="3400" b="1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44500" algn="l" rtl="0">
              <a:spcBef>
                <a:spcPts val="0"/>
              </a:spcBef>
              <a:spcAft>
                <a:spcPts val="0"/>
              </a:spcAft>
              <a:buClr>
                <a:srgbClr val="91EBCD"/>
              </a:buClr>
              <a:buSzPts val="3400"/>
              <a:buFont typeface="Calibri"/>
              <a:buAutoNum type="arabicParenR"/>
            </a:pPr>
            <a:r>
              <a:rPr lang="en-US" sz="3400" b="1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Classifiers (Step 2)</a:t>
            </a:r>
            <a:endParaRPr sz="3400" b="1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44500" algn="l" rtl="0">
              <a:spcBef>
                <a:spcPts val="0"/>
              </a:spcBef>
              <a:spcAft>
                <a:spcPts val="0"/>
              </a:spcAft>
              <a:buClr>
                <a:srgbClr val="91EBCD"/>
              </a:buClr>
              <a:buSzPts val="3400"/>
              <a:buFont typeface="Calibri"/>
              <a:buAutoNum type="arabicParenR"/>
            </a:pPr>
            <a:r>
              <a:rPr lang="en-US" sz="3400" b="1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sz="3400" b="1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44500" algn="l" rtl="0">
              <a:spcBef>
                <a:spcPts val="0"/>
              </a:spcBef>
              <a:spcAft>
                <a:spcPts val="0"/>
              </a:spcAft>
              <a:buClr>
                <a:srgbClr val="91EBCD"/>
              </a:buClr>
              <a:buSzPts val="3400"/>
              <a:buFont typeface="Calibri"/>
              <a:buAutoNum type="arabicParenR"/>
            </a:pPr>
            <a:r>
              <a:rPr lang="en-US" sz="3400" b="1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3400" b="1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44500" algn="l" rtl="0">
              <a:spcBef>
                <a:spcPts val="0"/>
              </a:spcBef>
              <a:spcAft>
                <a:spcPts val="0"/>
              </a:spcAft>
              <a:buClr>
                <a:srgbClr val="91EBCD"/>
              </a:buClr>
              <a:buSzPts val="3400"/>
              <a:buFont typeface="Calibri"/>
              <a:buAutoNum type="arabicParenR"/>
            </a:pPr>
            <a:r>
              <a:rPr lang="en-US" sz="3400" b="1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</a:p>
          <a:p>
            <a:pPr marL="457200" lvl="0" indent="-444500" algn="l" rtl="0">
              <a:spcBef>
                <a:spcPts val="0"/>
              </a:spcBef>
              <a:spcAft>
                <a:spcPts val="0"/>
              </a:spcAft>
              <a:buClr>
                <a:srgbClr val="91EBCD"/>
              </a:buClr>
              <a:buSzPts val="3400"/>
              <a:buFont typeface="Calibri"/>
              <a:buAutoNum type="arabicParenR"/>
            </a:pPr>
            <a:r>
              <a:rPr lang="en-US" sz="3400" b="1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</a:p>
          <a:p>
            <a:pPr marL="457200" lvl="0" indent="-444500" algn="l" rtl="0">
              <a:spcBef>
                <a:spcPts val="0"/>
              </a:spcBef>
              <a:spcAft>
                <a:spcPts val="0"/>
              </a:spcAft>
              <a:buClr>
                <a:srgbClr val="91EBCD"/>
              </a:buClr>
              <a:buSzPts val="3400"/>
              <a:buFont typeface="Calibri"/>
              <a:buAutoNum type="arabicParenR"/>
            </a:pPr>
            <a:endParaRPr sz="3400" b="1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72500" y="2918877"/>
            <a:ext cx="7220850" cy="3627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36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/>
          <p:nvPr/>
        </p:nvSpPr>
        <p:spPr>
          <a:xfrm>
            <a:off x="17329658" y="624954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 extrusionOk="0">
                <a:moveTo>
                  <a:pt x="226822" y="453517"/>
                </a:moveTo>
                <a:lnTo>
                  <a:pt x="0" y="453517"/>
                </a:lnTo>
                <a:lnTo>
                  <a:pt x="0" y="0"/>
                </a:lnTo>
                <a:lnTo>
                  <a:pt x="453517" y="0"/>
                </a:lnTo>
                <a:lnTo>
                  <a:pt x="453517" y="453517"/>
                </a:lnTo>
                <a:lnTo>
                  <a:pt x="226822" y="453517"/>
                </a:lnTo>
                <a:close/>
              </a:path>
            </a:pathLst>
          </a:custGeom>
          <a:noFill/>
          <a:ln w="18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3" name="Google Shape;73;p10"/>
          <p:cNvSpPr/>
          <p:nvPr/>
        </p:nvSpPr>
        <p:spPr>
          <a:xfrm>
            <a:off x="452159" y="9469440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 extrusionOk="0">
                <a:moveTo>
                  <a:pt x="226794" y="453513"/>
                </a:moveTo>
                <a:lnTo>
                  <a:pt x="0" y="453513"/>
                </a:lnTo>
                <a:lnTo>
                  <a:pt x="0" y="0"/>
                </a:lnTo>
                <a:lnTo>
                  <a:pt x="453588" y="0"/>
                </a:lnTo>
                <a:lnTo>
                  <a:pt x="453588" y="453513"/>
                </a:lnTo>
                <a:lnTo>
                  <a:pt x="226794" y="453513"/>
                </a:lnTo>
                <a:close/>
              </a:path>
            </a:pathLst>
          </a:custGeom>
          <a:noFill/>
          <a:ln w="18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4" name="Google Shape;74;p10"/>
          <p:cNvSpPr/>
          <p:nvPr/>
        </p:nvSpPr>
        <p:spPr>
          <a:xfrm>
            <a:off x="1199500" y="9469440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 extrusionOk="0">
                <a:moveTo>
                  <a:pt x="226798" y="453513"/>
                </a:moveTo>
                <a:lnTo>
                  <a:pt x="0" y="453513"/>
                </a:lnTo>
                <a:lnTo>
                  <a:pt x="0" y="0"/>
                </a:lnTo>
                <a:lnTo>
                  <a:pt x="453587" y="0"/>
                </a:lnTo>
                <a:lnTo>
                  <a:pt x="453587" y="453513"/>
                </a:lnTo>
                <a:lnTo>
                  <a:pt x="226798" y="453513"/>
                </a:lnTo>
                <a:close/>
              </a:path>
            </a:pathLst>
          </a:custGeom>
          <a:noFill/>
          <a:ln w="18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5" name="Google Shape;75;p10"/>
          <p:cNvSpPr txBox="1"/>
          <p:nvPr/>
        </p:nvSpPr>
        <p:spPr>
          <a:xfrm>
            <a:off x="1653525" y="1078975"/>
            <a:ext cx="15676200" cy="4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0" b="1" dirty="0">
              <a:solidFill>
                <a:srgbClr val="FFF2CC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0" dirty="0">
              <a:solidFill>
                <a:srgbClr val="FFF2CC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Data science is typically a “concept to bring together statistics, data analysis, and their related methods” to understand and analyze the actual phenomena with data.</a:t>
            </a: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It is the field of applying advanced analytics methods and scientific concepts to derive useful business information from data.</a:t>
            </a: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0"/>
          <p:cNvSpPr/>
          <p:nvPr/>
        </p:nvSpPr>
        <p:spPr>
          <a:xfrm>
            <a:off x="9134792" y="9469456"/>
            <a:ext cx="7757159" cy="20320"/>
          </a:xfrm>
          <a:custGeom>
            <a:avLst/>
            <a:gdLst/>
            <a:ahLst/>
            <a:cxnLst/>
            <a:rect l="l" t="t" r="r" b="b"/>
            <a:pathLst>
              <a:path w="7757159" h="20320" extrusionOk="0">
                <a:moveTo>
                  <a:pt x="7756588" y="1447"/>
                </a:moveTo>
                <a:lnTo>
                  <a:pt x="0" y="0"/>
                </a:lnTo>
                <a:lnTo>
                  <a:pt x="0" y="18719"/>
                </a:lnTo>
                <a:lnTo>
                  <a:pt x="7756588" y="20167"/>
                </a:lnTo>
                <a:lnTo>
                  <a:pt x="7756588" y="144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7" name="Google Shape;77;p10"/>
          <p:cNvSpPr txBox="1"/>
          <p:nvPr/>
        </p:nvSpPr>
        <p:spPr>
          <a:xfrm>
            <a:off x="1653525" y="1220925"/>
            <a:ext cx="110889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6000" b="1">
                <a:solidFill>
                  <a:srgbClr val="FFF2CC"/>
                </a:solidFill>
                <a:latin typeface="Georgia"/>
                <a:ea typeface="Georgia"/>
                <a:cs typeface="Georgia"/>
                <a:sym typeface="Georgia"/>
              </a:rPr>
              <a:t>What is Data Science?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78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3525" y="5873900"/>
            <a:ext cx="6090551" cy="3327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59650" y="5554975"/>
            <a:ext cx="5766075" cy="3685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2860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1"/>
          <p:cNvSpPr txBox="1"/>
          <p:nvPr/>
        </p:nvSpPr>
        <p:spPr>
          <a:xfrm>
            <a:off x="1613500" y="971650"/>
            <a:ext cx="13503000" cy="12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0" b="1" dirty="0">
              <a:solidFill>
                <a:srgbClr val="FFF2CC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800" dirty="0">
              <a:solidFill>
                <a:srgbClr val="FFF2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800" dirty="0">
              <a:solidFill>
                <a:srgbClr val="05587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95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82"/>
              </a:buClr>
              <a:buSzPts val="4200"/>
              <a:buFont typeface="Calibri"/>
              <a:buAutoNum type="arabicParenR"/>
            </a:pPr>
            <a:r>
              <a:rPr lang="en-US" sz="4200" b="1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Understanding Business Problem</a:t>
            </a:r>
            <a:endParaRPr sz="4200" b="1" dirty="0">
              <a:solidFill>
                <a:srgbClr val="F2F2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2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EBCD"/>
              </a:buClr>
              <a:buSzPts val="3400"/>
              <a:buFont typeface="Calibri"/>
              <a:buChar char="-"/>
            </a:pP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Means getting a clear understanding of the</a:t>
            </a: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    problem that is needed to be solved , how </a:t>
            </a: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    it impacts any relevant organization or </a:t>
            </a: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    individual.</a:t>
            </a: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    Once the problem is clearly stated then we can </a:t>
            </a: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    think of solving it further.</a:t>
            </a: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8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2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2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800" dirty="0">
              <a:solidFill>
                <a:srgbClr val="FFF2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800" dirty="0">
              <a:solidFill>
                <a:srgbClr val="FFF2CC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800" dirty="0">
              <a:solidFill>
                <a:srgbClr val="FFF2C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6" name="Google Shape;86;p11"/>
          <p:cNvSpPr/>
          <p:nvPr/>
        </p:nvSpPr>
        <p:spPr>
          <a:xfrm>
            <a:off x="1613509" y="9204807"/>
            <a:ext cx="7757159" cy="20320"/>
          </a:xfrm>
          <a:custGeom>
            <a:avLst/>
            <a:gdLst/>
            <a:ahLst/>
            <a:cxnLst/>
            <a:rect l="l" t="t" r="r" b="b"/>
            <a:pathLst>
              <a:path w="7757159" h="20320" extrusionOk="0">
                <a:moveTo>
                  <a:pt x="7756563" y="1435"/>
                </a:moveTo>
                <a:lnTo>
                  <a:pt x="0" y="0"/>
                </a:lnTo>
                <a:lnTo>
                  <a:pt x="0" y="18719"/>
                </a:lnTo>
                <a:lnTo>
                  <a:pt x="7756563" y="20167"/>
                </a:lnTo>
                <a:lnTo>
                  <a:pt x="7756563" y="14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87" name="Google Shape;87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34100" y="3297150"/>
            <a:ext cx="5295900" cy="53054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/>
        </p:nvSpPr>
        <p:spPr>
          <a:xfrm>
            <a:off x="2905125" y="2303325"/>
            <a:ext cx="11088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1"/>
          <p:cNvSpPr txBox="1"/>
          <p:nvPr/>
        </p:nvSpPr>
        <p:spPr>
          <a:xfrm>
            <a:off x="1498000" y="733125"/>
            <a:ext cx="13032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6000" b="1">
                <a:solidFill>
                  <a:srgbClr val="FFF2CC"/>
                </a:solidFill>
                <a:latin typeface="Georgia"/>
                <a:ea typeface="Georgia"/>
                <a:cs typeface="Georgia"/>
                <a:sym typeface="Georgia"/>
              </a:rPr>
              <a:t>Steps Of Data Science Modeling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2"/>
          <p:cNvSpPr txBox="1"/>
          <p:nvPr/>
        </p:nvSpPr>
        <p:spPr>
          <a:xfrm>
            <a:off x="1139525" y="949250"/>
            <a:ext cx="16767600" cy="98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 b="1">
              <a:solidFill>
                <a:srgbClr val="F2F2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2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44500" algn="l" rtl="0">
              <a:spcBef>
                <a:spcPts val="0"/>
              </a:spcBef>
              <a:spcAft>
                <a:spcPts val="0"/>
              </a:spcAft>
              <a:buClr>
                <a:srgbClr val="91EBCD"/>
              </a:buClr>
              <a:buSzPts val="3400"/>
              <a:buFont typeface="Calibri"/>
              <a:buChar char="-"/>
            </a:pPr>
            <a:r>
              <a:rPr lang="en-US" sz="340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The real world Data is often inconsistent have missing values which needs to be filtered</a:t>
            </a: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40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The data understanding module includes  figuring out what data would be best needed and the best ways to acquire it.</a:t>
            </a: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8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4200" b="1">
              <a:solidFill>
                <a:srgbClr val="F2F2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4200">
              <a:solidFill>
                <a:srgbClr val="F2F2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4200">
              <a:solidFill>
                <a:srgbClr val="F2F2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44500" algn="l" rtl="0">
              <a:spcBef>
                <a:spcPts val="0"/>
              </a:spcBef>
              <a:spcAft>
                <a:spcPts val="0"/>
              </a:spcAft>
              <a:buClr>
                <a:srgbClr val="91EBCD"/>
              </a:buClr>
              <a:buSzPts val="3400"/>
              <a:buFont typeface="Calibri"/>
              <a:buChar char="-"/>
            </a:pPr>
            <a:r>
              <a:rPr lang="en-US" sz="340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This phase includes an approach to analyse Data Sets often with visual methods.</a:t>
            </a: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 this phase offers tools for creating hypotheses by generally visualizing and interpreting the data through graphical representation such as a chart, plot, histogram, etc</a:t>
            </a: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8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8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8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8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2"/>
          <p:cNvSpPr txBox="1"/>
          <p:nvPr/>
        </p:nvSpPr>
        <p:spPr>
          <a:xfrm>
            <a:off x="4009150" y="1653875"/>
            <a:ext cx="11088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139525" y="723025"/>
            <a:ext cx="11088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200" b="1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2) Understanding Data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1139525" y="5573150"/>
            <a:ext cx="11088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20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3) </a:t>
            </a:r>
            <a:r>
              <a:rPr lang="en-US" sz="4200" b="1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Data Preprocessing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5240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3"/>
          <p:cNvSpPr/>
          <p:nvPr/>
        </p:nvSpPr>
        <p:spPr>
          <a:xfrm>
            <a:off x="452158" y="946943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 extrusionOk="0">
                <a:moveTo>
                  <a:pt x="226799" y="453514"/>
                </a:moveTo>
                <a:lnTo>
                  <a:pt x="0" y="453514"/>
                </a:lnTo>
                <a:lnTo>
                  <a:pt x="0" y="0"/>
                </a:lnTo>
                <a:lnTo>
                  <a:pt x="453597" y="0"/>
                </a:lnTo>
                <a:lnTo>
                  <a:pt x="453597" y="453514"/>
                </a:lnTo>
                <a:lnTo>
                  <a:pt x="226799" y="453514"/>
                </a:lnTo>
                <a:close/>
              </a:path>
            </a:pathLst>
          </a:custGeom>
          <a:noFill/>
          <a:ln w="18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4" name="Google Shape;104;p13"/>
          <p:cNvSpPr/>
          <p:nvPr/>
        </p:nvSpPr>
        <p:spPr>
          <a:xfrm>
            <a:off x="1199516" y="946943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 extrusionOk="0">
                <a:moveTo>
                  <a:pt x="226796" y="453514"/>
                </a:moveTo>
                <a:lnTo>
                  <a:pt x="0" y="453514"/>
                </a:lnTo>
                <a:lnTo>
                  <a:pt x="0" y="0"/>
                </a:lnTo>
                <a:lnTo>
                  <a:pt x="453601" y="0"/>
                </a:lnTo>
                <a:lnTo>
                  <a:pt x="453601" y="453514"/>
                </a:lnTo>
                <a:lnTo>
                  <a:pt x="226796" y="453514"/>
                </a:lnTo>
                <a:close/>
              </a:path>
            </a:pathLst>
          </a:custGeom>
          <a:noFill/>
          <a:ln w="18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5" name="Google Shape;105;p13"/>
          <p:cNvSpPr/>
          <p:nvPr/>
        </p:nvSpPr>
        <p:spPr>
          <a:xfrm>
            <a:off x="1946145" y="946943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 extrusionOk="0">
                <a:moveTo>
                  <a:pt x="226804" y="453514"/>
                </a:moveTo>
                <a:lnTo>
                  <a:pt x="0" y="453514"/>
                </a:lnTo>
                <a:lnTo>
                  <a:pt x="0" y="0"/>
                </a:lnTo>
                <a:lnTo>
                  <a:pt x="453608" y="0"/>
                </a:lnTo>
                <a:lnTo>
                  <a:pt x="453608" y="453514"/>
                </a:lnTo>
                <a:lnTo>
                  <a:pt x="226804" y="453514"/>
                </a:lnTo>
                <a:close/>
              </a:path>
            </a:pathLst>
          </a:custGeom>
          <a:noFill/>
          <a:ln w="18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6" name="Google Shape;106;p13"/>
          <p:cNvSpPr txBox="1"/>
          <p:nvPr/>
        </p:nvSpPr>
        <p:spPr>
          <a:xfrm>
            <a:off x="452149" y="656400"/>
            <a:ext cx="12475800" cy="6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825" rIns="0" bIns="0" anchor="t" anchorCtr="0">
            <a:spAutoFit/>
          </a:bodyPr>
          <a:lstStyle/>
          <a:p>
            <a:pPr marL="0" marR="5080" lvl="0" indent="0" algn="l" rtl="0">
              <a:lnSpc>
                <a:spcPct val="11632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800">
              <a:solidFill>
                <a:srgbClr val="91EBCD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605275" y="281425"/>
            <a:ext cx="11088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4) Machine Learning Modeling</a:t>
            </a:r>
            <a:endParaRPr sz="4200" b="1">
              <a:solidFill>
                <a:srgbClr val="F2F2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605275" y="1454725"/>
            <a:ext cx="10788000" cy="48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44500" algn="l" rtl="0">
              <a:spcBef>
                <a:spcPts val="0"/>
              </a:spcBef>
              <a:spcAft>
                <a:spcPts val="0"/>
              </a:spcAft>
              <a:buClr>
                <a:srgbClr val="91EBCD"/>
              </a:buClr>
              <a:buSzPts val="3400"/>
              <a:buFont typeface="Calibri"/>
              <a:buChar char="-"/>
            </a:pPr>
            <a:r>
              <a:rPr lang="en-US" sz="340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Once the data is prepared for building the model, data scientists design a model, algorithm, or set of models, to address the business problem. </a:t>
            </a: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We usually separate dataset in the ratio of 80:20 , </a:t>
            </a: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80 % for training the dataset with given input and known output and rest 20% to test the model &amp; compare its output with actual output.</a:t>
            </a: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59950" y="2033250"/>
            <a:ext cx="4909700" cy="426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 txBox="1"/>
          <p:nvPr/>
        </p:nvSpPr>
        <p:spPr>
          <a:xfrm>
            <a:off x="906175" y="6414325"/>
            <a:ext cx="1194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5) Data product and automation</a:t>
            </a:r>
            <a:endParaRPr sz="4200" b="1">
              <a:solidFill>
                <a:srgbClr val="F2F2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906175" y="7671950"/>
            <a:ext cx="12346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28600" algn="l" rtl="0">
              <a:spcBef>
                <a:spcPts val="0"/>
              </a:spcBef>
              <a:spcAft>
                <a:spcPts val="0"/>
              </a:spcAft>
              <a:buClr>
                <a:srgbClr val="91EBCD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340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A data product is basically the output of any data science activity .</a:t>
            </a: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"/>
          <p:cNvSpPr txBox="1">
            <a:spLocks noGrp="1"/>
          </p:cNvSpPr>
          <p:nvPr>
            <p:ph type="ctrTitle"/>
          </p:nvPr>
        </p:nvSpPr>
        <p:spPr>
          <a:xfrm>
            <a:off x="717000" y="841025"/>
            <a:ext cx="16713900" cy="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F2F282"/>
                </a:solidFill>
              </a:rPr>
              <a:t>               Introduction to Problem Statement</a:t>
            </a:r>
            <a:endParaRPr sz="4200" b="1">
              <a:solidFill>
                <a:srgbClr val="F2F282"/>
              </a:solidFill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4851707" y="3550396"/>
            <a:ext cx="6984300" cy="4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825" rIns="0" bIns="0" anchor="t" anchorCtr="0">
            <a:spAutoFit/>
          </a:bodyPr>
          <a:lstStyle/>
          <a:p>
            <a:pPr marL="12700" marR="5080" lvl="0" indent="0" algn="just" rtl="0">
              <a:lnSpc>
                <a:spcPct val="11632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2125800" y="2822875"/>
            <a:ext cx="14330700" cy="48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In the current society anyone who is having the access of internet can spread untrue , biased information . It has become impossible to prevent Fake news from being created so the next step is to differentiate </a:t>
            </a:r>
            <a:r>
              <a:rPr lang="en-US" sz="340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Fake news</a:t>
            </a:r>
            <a:r>
              <a:rPr lang="en-US" sz="340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 from </a:t>
            </a:r>
            <a:r>
              <a:rPr lang="en-US" sz="340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Real news</a:t>
            </a:r>
            <a:r>
              <a:rPr lang="en-US" sz="340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One possible solution may be </a:t>
            </a:r>
            <a:r>
              <a:rPr lang="en-US" sz="340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fact checking </a:t>
            </a:r>
            <a:r>
              <a:rPr lang="en-US" sz="340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but it is useless and time consuming </a:t>
            </a: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so the next step is to identify fake news using the concepts of </a:t>
            </a:r>
            <a:r>
              <a:rPr lang="en-US" sz="340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Data Science.</a:t>
            </a:r>
            <a:endParaRPr sz="3400">
              <a:solidFill>
                <a:srgbClr val="F2F2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>
              <a:solidFill>
                <a:srgbClr val="F2F2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Data science </a:t>
            </a:r>
            <a:r>
              <a:rPr lang="en-US" sz="340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being a field to find patterns in data can help us to differentiate between Fake news and real news.</a:t>
            </a: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" y="44244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/>
          <p:nvPr/>
        </p:nvSpPr>
        <p:spPr>
          <a:xfrm>
            <a:off x="14899583" y="8753758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 extrusionOk="0">
                <a:moveTo>
                  <a:pt x="226842" y="453516"/>
                </a:moveTo>
                <a:lnTo>
                  <a:pt x="0" y="453516"/>
                </a:lnTo>
                <a:lnTo>
                  <a:pt x="0" y="0"/>
                </a:lnTo>
                <a:lnTo>
                  <a:pt x="453684" y="0"/>
                </a:lnTo>
                <a:lnTo>
                  <a:pt x="453684" y="453516"/>
                </a:lnTo>
                <a:lnTo>
                  <a:pt x="226842" y="453516"/>
                </a:lnTo>
                <a:close/>
              </a:path>
            </a:pathLst>
          </a:custGeom>
          <a:noFill/>
          <a:ln w="18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5" name="Google Shape;125;p15"/>
          <p:cNvSpPr/>
          <p:nvPr/>
        </p:nvSpPr>
        <p:spPr>
          <a:xfrm>
            <a:off x="15647046" y="8753758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 extrusionOk="0">
                <a:moveTo>
                  <a:pt x="226715" y="453516"/>
                </a:moveTo>
                <a:lnTo>
                  <a:pt x="0" y="453516"/>
                </a:lnTo>
                <a:lnTo>
                  <a:pt x="0" y="0"/>
                </a:lnTo>
                <a:lnTo>
                  <a:pt x="453557" y="0"/>
                </a:lnTo>
                <a:lnTo>
                  <a:pt x="453557" y="453516"/>
                </a:lnTo>
                <a:lnTo>
                  <a:pt x="226715" y="453516"/>
                </a:lnTo>
                <a:close/>
              </a:path>
            </a:pathLst>
          </a:custGeom>
          <a:noFill/>
          <a:ln w="18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6" name="Google Shape;126;p15"/>
          <p:cNvSpPr/>
          <p:nvPr/>
        </p:nvSpPr>
        <p:spPr>
          <a:xfrm>
            <a:off x="16393619" y="8753758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 extrusionOk="0">
                <a:moveTo>
                  <a:pt x="226842" y="453516"/>
                </a:moveTo>
                <a:lnTo>
                  <a:pt x="0" y="453516"/>
                </a:lnTo>
                <a:lnTo>
                  <a:pt x="0" y="0"/>
                </a:lnTo>
                <a:lnTo>
                  <a:pt x="453557" y="0"/>
                </a:lnTo>
                <a:lnTo>
                  <a:pt x="453557" y="453516"/>
                </a:lnTo>
                <a:lnTo>
                  <a:pt x="226842" y="453516"/>
                </a:lnTo>
                <a:close/>
              </a:path>
            </a:pathLst>
          </a:custGeom>
          <a:noFill/>
          <a:ln w="18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7" name="Google Shape;127;p15"/>
          <p:cNvSpPr txBox="1"/>
          <p:nvPr/>
        </p:nvSpPr>
        <p:spPr>
          <a:xfrm>
            <a:off x="2502752" y="4186521"/>
            <a:ext cx="86232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300" rIns="0" bIns="0" anchor="t" anchorCtr="0">
            <a:spAutoFit/>
          </a:bodyPr>
          <a:lstStyle/>
          <a:p>
            <a:pPr marL="12700" marR="5080" lvl="0" indent="-635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2169100" y="770135"/>
            <a:ext cx="11088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Plan Of Action</a:t>
            </a:r>
            <a:endParaRPr sz="4200" b="1" dirty="0">
              <a:solidFill>
                <a:srgbClr val="F2F2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2169100" y="3450650"/>
            <a:ext cx="11088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2169100" y="2216545"/>
            <a:ext cx="14828700" cy="7509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The plan is to initially collect a large amount of data already known and verified as Fake News and then try to train a model that will find  the probability of it being Fake News.  </a:t>
            </a: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Detection of Fake News will be done in </a:t>
            </a:r>
            <a:r>
              <a:rPr lang="en-US" sz="3400" b="1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two major Steps:</a:t>
            </a:r>
            <a:endParaRPr sz="3400" b="1" dirty="0">
              <a:solidFill>
                <a:srgbClr val="F2F2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rgbClr val="F2F2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n-US" sz="3400" dirty="0" err="1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n-US" sz="3400" b="1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Feature Extraction </a:t>
            </a:r>
            <a:r>
              <a:rPr lang="en-US" sz="3400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The text needs to be turned into something more useful known as feature extraction , it can be of many forms  like </a:t>
            </a:r>
            <a:r>
              <a:rPr lang="en-US" sz="3400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word count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 , </a:t>
            </a:r>
            <a:r>
              <a:rPr lang="en-US" sz="3400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sentiment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400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analysis 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3400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part of speech analysis , Entity Recognition 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. Features are basically a numeric value which describe the text </a:t>
            </a:r>
          </a:p>
          <a:p>
            <a:pPr lvl="0"/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ii) </a:t>
            </a:r>
            <a:r>
              <a:rPr lang="en-US" sz="3400" b="1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Classifier </a:t>
            </a:r>
            <a:r>
              <a:rPr lang="en-US" sz="3400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 Give features as input to classifiers to get to know that the text having these features belong to fake news category or not .                                          </a:t>
            </a: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/>
          <p:nvPr/>
        </p:nvSpPr>
        <p:spPr>
          <a:xfrm>
            <a:off x="9825608" y="1149391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 extrusionOk="0">
                <a:moveTo>
                  <a:pt x="226799" y="453512"/>
                </a:moveTo>
                <a:lnTo>
                  <a:pt x="0" y="453512"/>
                </a:lnTo>
                <a:lnTo>
                  <a:pt x="0" y="0"/>
                </a:lnTo>
                <a:lnTo>
                  <a:pt x="453597" y="0"/>
                </a:lnTo>
                <a:lnTo>
                  <a:pt x="453597" y="453512"/>
                </a:lnTo>
                <a:lnTo>
                  <a:pt x="226799" y="453512"/>
                </a:lnTo>
                <a:close/>
              </a:path>
            </a:pathLst>
          </a:custGeom>
          <a:noFill/>
          <a:ln w="18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37" name="Google Shape;137;p16"/>
          <p:cNvSpPr/>
          <p:nvPr/>
        </p:nvSpPr>
        <p:spPr>
          <a:xfrm>
            <a:off x="10551341" y="1149391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 extrusionOk="0">
                <a:moveTo>
                  <a:pt x="226796" y="453512"/>
                </a:moveTo>
                <a:lnTo>
                  <a:pt x="0" y="453512"/>
                </a:lnTo>
                <a:lnTo>
                  <a:pt x="0" y="0"/>
                </a:lnTo>
                <a:lnTo>
                  <a:pt x="453601" y="0"/>
                </a:lnTo>
                <a:lnTo>
                  <a:pt x="453601" y="453512"/>
                </a:lnTo>
                <a:lnTo>
                  <a:pt x="226796" y="453512"/>
                </a:lnTo>
                <a:close/>
              </a:path>
            </a:pathLst>
          </a:custGeom>
          <a:noFill/>
          <a:ln w="18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38" name="Google Shape;138;p16"/>
          <p:cNvSpPr/>
          <p:nvPr/>
        </p:nvSpPr>
        <p:spPr>
          <a:xfrm>
            <a:off x="11277095" y="1149391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 extrusionOk="0">
                <a:moveTo>
                  <a:pt x="226804" y="453512"/>
                </a:moveTo>
                <a:lnTo>
                  <a:pt x="0" y="453512"/>
                </a:lnTo>
                <a:lnTo>
                  <a:pt x="0" y="0"/>
                </a:lnTo>
                <a:lnTo>
                  <a:pt x="453608" y="0"/>
                </a:lnTo>
                <a:lnTo>
                  <a:pt x="453608" y="453512"/>
                </a:lnTo>
                <a:lnTo>
                  <a:pt x="226804" y="453512"/>
                </a:lnTo>
                <a:close/>
              </a:path>
            </a:pathLst>
          </a:custGeom>
          <a:noFill/>
          <a:ln w="18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39" name="Google Shape;139;p16"/>
          <p:cNvSpPr txBox="1">
            <a:spLocks noGrp="1"/>
          </p:cNvSpPr>
          <p:nvPr>
            <p:ph type="title"/>
          </p:nvPr>
        </p:nvSpPr>
        <p:spPr>
          <a:xfrm>
            <a:off x="1625150" y="1149405"/>
            <a:ext cx="77184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F2F282"/>
                </a:solidFill>
              </a:rPr>
              <a:t>Dataset required</a:t>
            </a:r>
            <a:endParaRPr sz="4200" b="1">
              <a:solidFill>
                <a:srgbClr val="F2F282"/>
              </a:solidFill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1445550" y="2476500"/>
            <a:ext cx="163317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We will require one Dataset to first train the machine , the largest available Dataset having over 40,000 articles is </a:t>
            </a:r>
            <a:r>
              <a:rPr lang="en-US" sz="340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ISOT (Information Security and object Technology) Fake News Dataset</a:t>
            </a:r>
            <a:r>
              <a:rPr lang="en-US" sz="340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 having over 21000 articles labeled as </a:t>
            </a:r>
            <a:r>
              <a:rPr lang="en-US" sz="340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real</a:t>
            </a:r>
            <a:r>
              <a:rPr lang="en-US" sz="340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 and over 23000 articles labeled as </a:t>
            </a:r>
            <a:r>
              <a:rPr lang="en-US" sz="340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Fake</a:t>
            </a:r>
            <a:r>
              <a:rPr lang="en-US" sz="340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 .</a:t>
            </a: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1445550" y="4572000"/>
            <a:ext cx="16245000" cy="3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Next we will be using a Dataset to test the model , for </a:t>
            </a:r>
            <a:r>
              <a:rPr lang="en-US" sz="3400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testing we will use 20% of ISOT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 dataset and whole of the new Dataset which is being Selected . This new Dataset can be </a:t>
            </a:r>
            <a:r>
              <a:rPr lang="en-US" sz="3400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Fake News Net 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, it has full length articles, however there are only 422 labeled articles in it</a:t>
            </a: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9750" y="6671700"/>
            <a:ext cx="8347950" cy="255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05375" y="6505450"/>
            <a:ext cx="5652400" cy="3164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496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>
            <a:spLocks noGrp="1"/>
          </p:cNvSpPr>
          <p:nvPr>
            <p:ph type="title"/>
          </p:nvPr>
        </p:nvSpPr>
        <p:spPr>
          <a:xfrm>
            <a:off x="1625150" y="694805"/>
            <a:ext cx="77184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F2F282"/>
                </a:solidFill>
              </a:rPr>
              <a:t>Features (Step 1)</a:t>
            </a:r>
            <a:endParaRPr sz="4200" b="1">
              <a:solidFill>
                <a:srgbClr val="F2F282"/>
              </a:solidFill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1445550" y="2476500"/>
            <a:ext cx="16331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1445550" y="4572000"/>
            <a:ext cx="16245000" cy="22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1625150" y="2014800"/>
            <a:ext cx="157623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Features are numerical values which will describe the text , the main aim is to find a feature that will give most accurate results. Some of the features being used are :</a:t>
            </a: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1625150" y="3647400"/>
            <a:ext cx="15762300" cy="54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44500" algn="l" rtl="0">
              <a:spcBef>
                <a:spcPts val="0"/>
              </a:spcBef>
              <a:spcAft>
                <a:spcPts val="0"/>
              </a:spcAft>
              <a:buClr>
                <a:srgbClr val="F2F282"/>
              </a:buClr>
              <a:buSzPts val="3400"/>
              <a:buFont typeface="Calibri"/>
              <a:buAutoNum type="arabicParenR"/>
            </a:pPr>
            <a:r>
              <a:rPr lang="en-US" sz="3400" b="1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Word Count </a:t>
            </a:r>
            <a:r>
              <a:rPr lang="en-US" sz="3400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Means the number of times a particular word is being occurred </a:t>
            </a: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44500" algn="l" rtl="0">
              <a:spcBef>
                <a:spcPts val="0"/>
              </a:spcBef>
              <a:spcAft>
                <a:spcPts val="0"/>
              </a:spcAft>
              <a:buClr>
                <a:srgbClr val="F2F282"/>
              </a:buClr>
              <a:buSzPts val="3400"/>
              <a:buFont typeface="Calibri"/>
              <a:buAutoNum type="arabicParenR"/>
            </a:pPr>
            <a:r>
              <a:rPr lang="en-US" sz="3400" b="1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N-gram Count</a:t>
            </a:r>
            <a:r>
              <a:rPr lang="en-US" sz="3400" b="1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 These are series of n items , such as words , for example n-gram of word  ‘features’ may be ‘</a:t>
            </a:r>
            <a:r>
              <a:rPr lang="en-US" sz="3400" dirty="0" err="1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fe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’ , ‘</a:t>
            </a:r>
            <a:r>
              <a:rPr lang="en-US" sz="3400" dirty="0" err="1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ea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’ , ‘</a:t>
            </a:r>
            <a:r>
              <a:rPr lang="en-US" sz="3400" dirty="0" err="1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tu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’ , ‘tur’ . </a:t>
            </a: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44500" algn="l" rtl="0">
              <a:spcBef>
                <a:spcPts val="0"/>
              </a:spcBef>
              <a:spcAft>
                <a:spcPts val="0"/>
              </a:spcAft>
              <a:buClr>
                <a:srgbClr val="F2F282"/>
              </a:buClr>
              <a:buSzPts val="3400"/>
              <a:buFont typeface="Calibri"/>
              <a:buAutoNum type="arabicParenR"/>
            </a:pPr>
            <a:r>
              <a:rPr lang="en-US" sz="3400" b="1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Term frequency-inverse document frequency (TF-IDF)</a:t>
            </a:r>
            <a:r>
              <a:rPr lang="en-US" sz="3400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TF-IDF is a way to rank the importance of a term within a text with respect to all the texts in the collection. It ranks common words as less important (smaller numeric value) and less used words as more important (large numeric values). </a:t>
            </a: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6300" y="8670200"/>
            <a:ext cx="9417601" cy="105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1445550" y="2476500"/>
            <a:ext cx="16331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1445550" y="4572000"/>
            <a:ext cx="16245000" cy="22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1445550" y="528200"/>
            <a:ext cx="15762300" cy="960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4) </a:t>
            </a:r>
            <a:r>
              <a:rPr lang="en-US" sz="3400" b="1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VADER(Valence Aware Dictionary and Sentiment Reasoner) :</a:t>
            </a:r>
            <a:r>
              <a:rPr lang="en-US" sz="3400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Fake news often tries to manipulate with readers emotions. So sentiment analysis can help to detect fake news.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Vader gives four numbers , how </a:t>
            </a:r>
            <a:r>
              <a:rPr lang="en-US" sz="3400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negative the tone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 of the text is , </a:t>
            </a:r>
            <a:r>
              <a:rPr lang="en-US" sz="3400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how positive 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it is , how </a:t>
            </a:r>
            <a:r>
              <a:rPr lang="en-US" sz="3400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neutral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 it is , how</a:t>
            </a:r>
            <a:r>
              <a:rPr lang="en-US" sz="3400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 compound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 it is .</a:t>
            </a: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5)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400" b="1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Stop Words</a:t>
            </a:r>
            <a:r>
              <a:rPr lang="en-US" sz="3400" b="1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 These are the most common words which needs to be removed to make the text distinct. Two English ready-made lists are </a:t>
            </a:r>
            <a:r>
              <a:rPr lang="en-US" sz="3400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NLTK’s (Natural Language Toolkit) </a:t>
            </a:r>
            <a:r>
              <a:rPr lang="en-US" sz="3400" dirty="0" err="1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stopword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 list and </a:t>
            </a:r>
            <a:r>
              <a:rPr lang="en-US" sz="3400" dirty="0" err="1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spaCy’s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 stop word list.</a:t>
            </a: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6)</a:t>
            </a:r>
            <a:r>
              <a:rPr lang="en-US" sz="3400" b="1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 Lemmatization (Lemma):</a:t>
            </a:r>
            <a:r>
              <a:rPr lang="en-US" sz="3400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Means focusing to the root of the word </a:t>
            </a:r>
            <a:r>
              <a:rPr lang="en-US" sz="3400" dirty="0" err="1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i.e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 words like foot and feet will be treated in same category by the classifiers.</a:t>
            </a: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7)</a:t>
            </a:r>
            <a:r>
              <a:rPr lang="en-US" sz="3400" b="1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 Named Entity Recognition : 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The process of identifying persons, organizations, and other named entities. By labeling words as ‘person’ or ‘organizations’ algorithms can pick on patterns involving these entities</a:t>
            </a: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/>
          <p:nvPr/>
        </p:nvSpPr>
        <p:spPr>
          <a:xfrm>
            <a:off x="1946858" y="9469429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 extrusionOk="0">
                <a:moveTo>
                  <a:pt x="226822" y="453517"/>
                </a:moveTo>
                <a:lnTo>
                  <a:pt x="0" y="453517"/>
                </a:lnTo>
                <a:lnTo>
                  <a:pt x="0" y="0"/>
                </a:lnTo>
                <a:lnTo>
                  <a:pt x="453517" y="0"/>
                </a:lnTo>
                <a:lnTo>
                  <a:pt x="453517" y="453517"/>
                </a:lnTo>
                <a:lnTo>
                  <a:pt x="226822" y="453517"/>
                </a:lnTo>
                <a:close/>
              </a:path>
            </a:pathLst>
          </a:custGeom>
          <a:noFill/>
          <a:ln w="18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69" name="Google Shape;169;p19"/>
          <p:cNvSpPr/>
          <p:nvPr/>
        </p:nvSpPr>
        <p:spPr>
          <a:xfrm>
            <a:off x="452159" y="946943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 extrusionOk="0">
                <a:moveTo>
                  <a:pt x="226794" y="453513"/>
                </a:moveTo>
                <a:lnTo>
                  <a:pt x="0" y="453513"/>
                </a:lnTo>
                <a:lnTo>
                  <a:pt x="0" y="0"/>
                </a:lnTo>
                <a:lnTo>
                  <a:pt x="453588" y="0"/>
                </a:lnTo>
                <a:lnTo>
                  <a:pt x="453588" y="453513"/>
                </a:lnTo>
                <a:lnTo>
                  <a:pt x="226794" y="453513"/>
                </a:lnTo>
                <a:close/>
              </a:path>
            </a:pathLst>
          </a:custGeom>
          <a:noFill/>
          <a:ln w="18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70" name="Google Shape;170;p19"/>
          <p:cNvSpPr/>
          <p:nvPr/>
        </p:nvSpPr>
        <p:spPr>
          <a:xfrm>
            <a:off x="1199500" y="946943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 extrusionOk="0">
                <a:moveTo>
                  <a:pt x="226798" y="453513"/>
                </a:moveTo>
                <a:lnTo>
                  <a:pt x="0" y="453513"/>
                </a:lnTo>
                <a:lnTo>
                  <a:pt x="0" y="0"/>
                </a:lnTo>
                <a:lnTo>
                  <a:pt x="453587" y="0"/>
                </a:lnTo>
                <a:lnTo>
                  <a:pt x="453587" y="453513"/>
                </a:lnTo>
                <a:lnTo>
                  <a:pt x="226798" y="453513"/>
                </a:lnTo>
                <a:close/>
              </a:path>
            </a:pathLst>
          </a:custGeom>
          <a:noFill/>
          <a:ln w="18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xfrm>
            <a:off x="1027975" y="624950"/>
            <a:ext cx="77571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F2F282"/>
                </a:solidFill>
              </a:rPr>
              <a:t>Classifiers (Step 2)</a:t>
            </a:r>
            <a:endParaRPr sz="4200" b="1">
              <a:solidFill>
                <a:srgbClr val="F2F282"/>
              </a:solidFill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1043425" y="1940700"/>
            <a:ext cx="16286400" cy="78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9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dirty="0">
                <a:solidFill>
                  <a:srgbClr val="91EBCD"/>
                </a:solidFill>
                <a:latin typeface="Trebuchet MS"/>
                <a:ea typeface="Trebuchet MS"/>
                <a:cs typeface="Trebuchet MS"/>
                <a:sym typeface="Trebuchet MS"/>
              </a:rPr>
              <a:t>Two classifiers are being used here once the feature extraction is done and their results are being compared further </a:t>
            </a:r>
            <a:r>
              <a:rPr lang="en-US" sz="3400" dirty="0">
                <a:solidFill>
                  <a:srgbClr val="91EBCD"/>
                </a:solidFill>
                <a:latin typeface="Trebuchet MS"/>
                <a:ea typeface="Trebuchet MS"/>
                <a:cs typeface="Trebuchet MS"/>
                <a:sym typeface="Trebuchet MS"/>
              </a:rPr>
              <a:t>:</a:t>
            </a:r>
            <a:endParaRPr sz="3400" dirty="0">
              <a:solidFill>
                <a:srgbClr val="91EBC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marR="5080" lvl="0" indent="0" algn="l" rtl="0">
              <a:lnSpc>
                <a:spcPct val="99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rgbClr val="91EBC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marR="5080" lvl="0" indent="0" algn="l" rtl="0">
              <a:lnSpc>
                <a:spcPct val="9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dirty="0" err="1">
                <a:solidFill>
                  <a:srgbClr val="F2F282"/>
                </a:solidFill>
                <a:latin typeface="Trebuchet MS"/>
                <a:ea typeface="Trebuchet MS"/>
                <a:cs typeface="Trebuchet MS"/>
                <a:sym typeface="Trebuchet MS"/>
              </a:rPr>
              <a:t>i</a:t>
            </a:r>
            <a:r>
              <a:rPr lang="en-US" sz="3400" b="1" dirty="0">
                <a:solidFill>
                  <a:srgbClr val="F2F282"/>
                </a:solidFill>
                <a:latin typeface="Trebuchet MS"/>
                <a:ea typeface="Trebuchet MS"/>
                <a:cs typeface="Trebuchet MS"/>
                <a:sym typeface="Trebuchet MS"/>
              </a:rPr>
              <a:t>) Naive Bayes: </a:t>
            </a:r>
            <a:r>
              <a:rPr lang="en-US" sz="3400" dirty="0">
                <a:solidFill>
                  <a:srgbClr val="91EBCD"/>
                </a:solidFill>
                <a:latin typeface="Trebuchet MS"/>
                <a:ea typeface="Trebuchet MS"/>
                <a:cs typeface="Trebuchet MS"/>
                <a:sym typeface="Trebuchet MS"/>
              </a:rPr>
              <a:t>It is a probabilistic classification </a:t>
            </a:r>
            <a:endParaRPr sz="3400" dirty="0">
              <a:solidFill>
                <a:srgbClr val="91EBC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marR="5080" lvl="0" indent="0" algn="l" rtl="0">
              <a:lnSpc>
                <a:spcPct val="9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rgbClr val="91EBCD"/>
                </a:solidFill>
                <a:latin typeface="Trebuchet MS"/>
                <a:ea typeface="Trebuchet MS"/>
                <a:cs typeface="Trebuchet MS"/>
                <a:sym typeface="Trebuchet MS"/>
              </a:rPr>
              <a:t>  algorithm based on Bayes' theorem .</a:t>
            </a:r>
            <a:endParaRPr sz="3400" dirty="0">
              <a:solidFill>
                <a:srgbClr val="91EBC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marR="5080" lvl="0" indent="0" algn="l" rtl="0">
              <a:lnSpc>
                <a:spcPct val="99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rgbClr val="91EBC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marR="5080" lvl="0" indent="0" algn="l" rtl="0">
              <a:lnSpc>
                <a:spcPct val="9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rgbClr val="91EBCD"/>
                </a:solidFill>
                <a:latin typeface="Trebuchet MS"/>
                <a:ea typeface="Trebuchet MS"/>
                <a:cs typeface="Trebuchet MS"/>
                <a:sym typeface="Trebuchet MS"/>
              </a:rPr>
              <a:t>  It calculates the probability that a data point belongs</a:t>
            </a:r>
            <a:endParaRPr sz="3400" dirty="0">
              <a:solidFill>
                <a:srgbClr val="91EBC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marR="5080" lvl="0" indent="0" algn="l" rtl="0">
              <a:lnSpc>
                <a:spcPct val="998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400" dirty="0">
                <a:solidFill>
                  <a:srgbClr val="91EBCD"/>
                </a:solidFill>
                <a:latin typeface="Trebuchet MS"/>
                <a:ea typeface="Trebuchet MS"/>
                <a:cs typeface="Trebuchet MS"/>
                <a:sym typeface="Trebuchet MS"/>
              </a:rPr>
              <a:t>  to each class based on the features observed, </a:t>
            </a:r>
            <a:endParaRPr sz="3400" dirty="0">
              <a:solidFill>
                <a:srgbClr val="91EBC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marR="5080" lvl="0" indent="0" algn="l" rtl="0">
              <a:lnSpc>
                <a:spcPct val="998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400" dirty="0">
                <a:solidFill>
                  <a:srgbClr val="91EBCD"/>
                </a:solidFill>
                <a:latin typeface="Trebuchet MS"/>
                <a:ea typeface="Trebuchet MS"/>
                <a:cs typeface="Trebuchet MS"/>
                <a:sym typeface="Trebuchet MS"/>
              </a:rPr>
              <a:t>  and then assigns the class with the highest </a:t>
            </a:r>
            <a:endParaRPr sz="3400" dirty="0">
              <a:solidFill>
                <a:srgbClr val="91EBC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marR="5080" lvl="0" indent="0" algn="l" rtl="0">
              <a:lnSpc>
                <a:spcPct val="998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400" dirty="0">
                <a:solidFill>
                  <a:srgbClr val="91EBCD"/>
                </a:solidFill>
                <a:latin typeface="Trebuchet MS"/>
                <a:ea typeface="Trebuchet MS"/>
                <a:cs typeface="Trebuchet MS"/>
                <a:sym typeface="Trebuchet MS"/>
              </a:rPr>
              <a:t>  probability. </a:t>
            </a:r>
            <a:endParaRPr sz="3400" dirty="0">
              <a:solidFill>
                <a:srgbClr val="91EBC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marR="5080" lvl="0" indent="0" algn="l" rtl="0">
              <a:lnSpc>
                <a:spcPct val="998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400" dirty="0">
              <a:solidFill>
                <a:srgbClr val="91EBC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marR="5080" lvl="0" indent="0" algn="l" rtl="0">
              <a:lnSpc>
                <a:spcPct val="998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400" dirty="0">
                <a:solidFill>
                  <a:srgbClr val="91EBCD"/>
                </a:solidFill>
                <a:latin typeface="Trebuchet MS"/>
                <a:ea typeface="Trebuchet MS"/>
                <a:cs typeface="Trebuchet MS"/>
                <a:sym typeface="Trebuchet MS"/>
              </a:rPr>
              <a:t>  It does this for every feature and in the end combine </a:t>
            </a:r>
            <a:endParaRPr sz="3400" dirty="0">
              <a:solidFill>
                <a:srgbClr val="91EBC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marR="5080" lvl="0" indent="0" algn="l" rtl="0">
              <a:lnSpc>
                <a:spcPct val="998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400" dirty="0">
                <a:solidFill>
                  <a:srgbClr val="91EBCD"/>
                </a:solidFill>
                <a:latin typeface="Trebuchet MS"/>
                <a:ea typeface="Trebuchet MS"/>
                <a:cs typeface="Trebuchet MS"/>
                <a:sym typeface="Trebuchet MS"/>
              </a:rPr>
              <a:t>  all individual probabilities to reach to a final classification .</a:t>
            </a:r>
            <a:endParaRPr sz="3400" dirty="0">
              <a:solidFill>
                <a:srgbClr val="91EBC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marR="5080" lvl="0" indent="0" algn="l" rtl="0">
              <a:lnSpc>
                <a:spcPct val="998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dirty="0">
                <a:solidFill>
                  <a:srgbClr val="91EBCD"/>
                </a:solidFill>
                <a:latin typeface="Trebuchet MS"/>
                <a:ea typeface="Trebuchet MS"/>
                <a:cs typeface="Trebuchet MS"/>
                <a:sym typeface="Trebuchet MS"/>
              </a:rPr>
              <a:t>  </a:t>
            </a:r>
            <a:endParaRPr sz="3400" dirty="0">
              <a:solidFill>
                <a:srgbClr val="91EBC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marR="5080" lvl="0" indent="0" algn="l" rtl="0">
              <a:lnSpc>
                <a:spcPct val="99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rgbClr val="91EBCD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9134792" y="9201581"/>
            <a:ext cx="7757159" cy="20320"/>
          </a:xfrm>
          <a:custGeom>
            <a:avLst/>
            <a:gdLst/>
            <a:ahLst/>
            <a:cxnLst/>
            <a:rect l="l" t="t" r="r" b="b"/>
            <a:pathLst>
              <a:path w="7757159" h="20320" extrusionOk="0">
                <a:moveTo>
                  <a:pt x="7756588" y="1447"/>
                </a:moveTo>
                <a:lnTo>
                  <a:pt x="0" y="0"/>
                </a:lnTo>
                <a:lnTo>
                  <a:pt x="0" y="18719"/>
                </a:lnTo>
                <a:lnTo>
                  <a:pt x="7756588" y="20167"/>
                </a:lnTo>
                <a:lnTo>
                  <a:pt x="7756588" y="144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174" name="Google Shape;17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10575" y="3719088"/>
            <a:ext cx="6237852" cy="3697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/>
          <p:nvPr/>
        </p:nvSpPr>
        <p:spPr>
          <a:xfrm>
            <a:off x="1946858" y="9469429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 extrusionOk="0">
                <a:moveTo>
                  <a:pt x="226822" y="453517"/>
                </a:moveTo>
                <a:lnTo>
                  <a:pt x="0" y="453517"/>
                </a:lnTo>
                <a:lnTo>
                  <a:pt x="0" y="0"/>
                </a:lnTo>
                <a:lnTo>
                  <a:pt x="453517" y="0"/>
                </a:lnTo>
                <a:lnTo>
                  <a:pt x="453517" y="453517"/>
                </a:lnTo>
                <a:lnTo>
                  <a:pt x="226822" y="453517"/>
                </a:lnTo>
                <a:close/>
              </a:path>
            </a:pathLst>
          </a:custGeom>
          <a:noFill/>
          <a:ln w="18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81" name="Google Shape;181;p20"/>
          <p:cNvSpPr/>
          <p:nvPr/>
        </p:nvSpPr>
        <p:spPr>
          <a:xfrm>
            <a:off x="452159" y="946943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 extrusionOk="0">
                <a:moveTo>
                  <a:pt x="226794" y="453513"/>
                </a:moveTo>
                <a:lnTo>
                  <a:pt x="0" y="453513"/>
                </a:lnTo>
                <a:lnTo>
                  <a:pt x="0" y="0"/>
                </a:lnTo>
                <a:lnTo>
                  <a:pt x="453588" y="0"/>
                </a:lnTo>
                <a:lnTo>
                  <a:pt x="453588" y="453513"/>
                </a:lnTo>
                <a:lnTo>
                  <a:pt x="226794" y="453513"/>
                </a:lnTo>
                <a:close/>
              </a:path>
            </a:pathLst>
          </a:custGeom>
          <a:noFill/>
          <a:ln w="18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82" name="Google Shape;182;p20"/>
          <p:cNvSpPr/>
          <p:nvPr/>
        </p:nvSpPr>
        <p:spPr>
          <a:xfrm>
            <a:off x="1199500" y="946943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 extrusionOk="0">
                <a:moveTo>
                  <a:pt x="226798" y="453513"/>
                </a:moveTo>
                <a:lnTo>
                  <a:pt x="0" y="453513"/>
                </a:lnTo>
                <a:lnTo>
                  <a:pt x="0" y="0"/>
                </a:lnTo>
                <a:lnTo>
                  <a:pt x="453587" y="0"/>
                </a:lnTo>
                <a:lnTo>
                  <a:pt x="453587" y="453513"/>
                </a:lnTo>
                <a:lnTo>
                  <a:pt x="226798" y="453513"/>
                </a:lnTo>
                <a:close/>
              </a:path>
            </a:pathLst>
          </a:custGeom>
          <a:noFill/>
          <a:ln w="18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83" name="Google Shape;183;p20"/>
          <p:cNvSpPr txBox="1"/>
          <p:nvPr/>
        </p:nvSpPr>
        <p:spPr>
          <a:xfrm>
            <a:off x="1000800" y="468650"/>
            <a:ext cx="16286400" cy="6814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marR="5080" lvl="0" indent="0" algn="l" rtl="0">
              <a:lnSpc>
                <a:spcPct val="99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00" b="1" dirty="0">
              <a:solidFill>
                <a:srgbClr val="F2F28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5080" lvl="0" indent="0" algn="l" rtl="0">
              <a:lnSpc>
                <a:spcPct val="99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00" b="1" dirty="0">
              <a:solidFill>
                <a:srgbClr val="F2F28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5080" lvl="0" indent="0" algn="l" rtl="0">
              <a:lnSpc>
                <a:spcPct val="9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rgbClr val="91EBCD"/>
                </a:solidFill>
                <a:latin typeface="Trebuchet MS"/>
                <a:ea typeface="Trebuchet MS"/>
                <a:cs typeface="Trebuchet MS"/>
                <a:sym typeface="Trebuchet MS"/>
              </a:rPr>
              <a:t>It is a type of classifier made using </a:t>
            </a:r>
            <a:r>
              <a:rPr lang="en-US" sz="3400" dirty="0">
                <a:solidFill>
                  <a:srgbClr val="F2F282"/>
                </a:solidFill>
                <a:latin typeface="Trebuchet MS"/>
                <a:ea typeface="Trebuchet MS"/>
                <a:cs typeface="Trebuchet MS"/>
                <a:sym typeface="Trebuchet MS"/>
              </a:rPr>
              <a:t>decision trees</a:t>
            </a:r>
            <a:r>
              <a:rPr lang="en-US" sz="3400" dirty="0">
                <a:solidFill>
                  <a:srgbClr val="91EBCD"/>
                </a:solidFill>
                <a:latin typeface="Trebuchet MS"/>
                <a:ea typeface="Trebuchet MS"/>
                <a:cs typeface="Trebuchet MS"/>
                <a:sym typeface="Trebuchet MS"/>
              </a:rPr>
              <a:t>. But, instead of a decision tree     training on all of the data, each decision tree will get a random subset of the data </a:t>
            </a:r>
            <a:endParaRPr sz="3400" dirty="0">
              <a:solidFill>
                <a:srgbClr val="91EBC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5080" lvl="0" indent="0" algn="l" rtl="0">
              <a:lnSpc>
                <a:spcPct val="9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rgbClr val="91EBCD"/>
                </a:solidFill>
                <a:latin typeface="Trebuchet MS"/>
                <a:ea typeface="Trebuchet MS"/>
                <a:cs typeface="Trebuchet MS"/>
                <a:sym typeface="Trebuchet MS"/>
              </a:rPr>
              <a:t>train on.</a:t>
            </a:r>
            <a:endParaRPr sz="3400" dirty="0">
              <a:solidFill>
                <a:srgbClr val="91EBC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5080" lvl="0" indent="0" algn="l" rtl="0">
              <a:lnSpc>
                <a:spcPct val="9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rgbClr val="91EBCD"/>
                </a:solidFill>
                <a:latin typeface="Trebuchet MS"/>
                <a:ea typeface="Trebuchet MS"/>
                <a:cs typeface="Trebuchet MS"/>
                <a:sym typeface="Trebuchet MS"/>
              </a:rPr>
              <a:t>   </a:t>
            </a:r>
            <a:endParaRPr sz="3400" dirty="0">
              <a:solidFill>
                <a:srgbClr val="91EBC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5080" lvl="0" indent="0" algn="l" rtl="0">
              <a:lnSpc>
                <a:spcPct val="9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rgbClr val="91EBCD"/>
                </a:solidFill>
                <a:latin typeface="Trebuchet MS"/>
                <a:ea typeface="Trebuchet MS"/>
                <a:cs typeface="Trebuchet MS"/>
                <a:sym typeface="Trebuchet MS"/>
              </a:rPr>
              <a:t>Each decision tree of the forest will give its own classification and in the end which</a:t>
            </a:r>
            <a:endParaRPr sz="3400" dirty="0">
              <a:solidFill>
                <a:srgbClr val="91EBC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5080" lvl="0" indent="0" algn="l" rtl="0">
              <a:lnSpc>
                <a:spcPct val="9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rgbClr val="91EBCD"/>
                </a:solidFill>
                <a:latin typeface="Trebuchet MS"/>
                <a:ea typeface="Trebuchet MS"/>
                <a:cs typeface="Trebuchet MS"/>
                <a:sym typeface="Trebuchet MS"/>
              </a:rPr>
              <a:t>ever classification gets the most number of votes wins.</a:t>
            </a:r>
            <a:endParaRPr sz="3400" dirty="0">
              <a:solidFill>
                <a:srgbClr val="91EBC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5080" lvl="0" indent="0" algn="l" rtl="0">
              <a:lnSpc>
                <a:spcPct val="99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rgbClr val="91EBC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5080" lvl="0" indent="0" algn="l" rtl="0">
              <a:lnSpc>
                <a:spcPct val="9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rgbClr val="91EBCD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3400" dirty="0">
              <a:solidFill>
                <a:srgbClr val="91EBC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5080" lvl="0" indent="0" algn="l" rtl="0">
              <a:lnSpc>
                <a:spcPct val="99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rgbClr val="91EBC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5080" lvl="0" indent="0" algn="l" rtl="0">
              <a:lnSpc>
                <a:spcPct val="99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rgbClr val="91EBC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5080" lvl="0" indent="0" algn="l" rtl="0">
              <a:lnSpc>
                <a:spcPct val="99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rgbClr val="91EBCD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9697642" y="9353106"/>
            <a:ext cx="7757159" cy="20320"/>
          </a:xfrm>
          <a:custGeom>
            <a:avLst/>
            <a:gdLst/>
            <a:ahLst/>
            <a:cxnLst/>
            <a:rect l="l" t="t" r="r" b="b"/>
            <a:pathLst>
              <a:path w="7757159" h="20320" extrusionOk="0">
                <a:moveTo>
                  <a:pt x="7756588" y="1447"/>
                </a:moveTo>
                <a:lnTo>
                  <a:pt x="0" y="0"/>
                </a:lnTo>
                <a:lnTo>
                  <a:pt x="0" y="18719"/>
                </a:lnTo>
                <a:lnTo>
                  <a:pt x="7756588" y="20167"/>
                </a:lnTo>
                <a:lnTo>
                  <a:pt x="7756588" y="144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185" name="Google Shape;18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33302" y="5118050"/>
            <a:ext cx="6880948" cy="385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53524" y="5118055"/>
            <a:ext cx="6034750" cy="385274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4751350" y="1032150"/>
            <a:ext cx="1254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1000800" y="640200"/>
            <a:ext cx="125427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5080" lvl="0" indent="0" algn="l" rtl="0">
              <a:lnSpc>
                <a:spcPct val="998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400" b="1">
                <a:solidFill>
                  <a:srgbClr val="F2F282"/>
                </a:solidFill>
                <a:latin typeface="Trebuchet MS"/>
                <a:ea typeface="Trebuchet MS"/>
                <a:cs typeface="Trebuchet MS"/>
                <a:sym typeface="Trebuchet MS"/>
              </a:rPr>
              <a:t>ii) Random Forest :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>
            <a:spLocks noGrp="1"/>
          </p:cNvSpPr>
          <p:nvPr>
            <p:ph type="title"/>
          </p:nvPr>
        </p:nvSpPr>
        <p:spPr>
          <a:xfrm>
            <a:off x="1680700" y="550071"/>
            <a:ext cx="6333300" cy="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F2F282"/>
                </a:solidFill>
              </a:rPr>
              <a:t>Results</a:t>
            </a:r>
            <a:endParaRPr sz="4200" b="1">
              <a:solidFill>
                <a:srgbClr val="F2F282"/>
              </a:solidFill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8759532" y="4199821"/>
            <a:ext cx="6889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marR="5080" lvl="0" indent="0" algn="l" rtl="0">
              <a:lnSpc>
                <a:spcPct val="997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1680700" y="2195075"/>
            <a:ext cx="15663600" cy="3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Using the two different models as described above various features were tested and the results of both classifiers were compared (Original dataset is a small dataset which was prepared for this research only)</a:t>
            </a: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0700" y="4477475"/>
            <a:ext cx="8866076" cy="373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11780700" y="3738125"/>
            <a:ext cx="5883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10979725" y="4369225"/>
            <a:ext cx="7208700" cy="43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We can observe from this result that the </a:t>
            </a:r>
            <a:r>
              <a:rPr lang="en-US" sz="340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ISOT testing Dataset </a:t>
            </a:r>
            <a:r>
              <a:rPr lang="en-US" sz="340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is getting better results than the Fake News Net dataset and the original dataset.</a:t>
            </a: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340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NB classifier</a:t>
            </a:r>
            <a:r>
              <a:rPr lang="en-US" sz="340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 gets better accuracy with count n-gram.</a:t>
            </a: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/>
          <p:nvPr/>
        </p:nvSpPr>
        <p:spPr>
          <a:xfrm>
            <a:off x="17329658" y="624954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 extrusionOk="0">
                <a:moveTo>
                  <a:pt x="226822" y="453517"/>
                </a:moveTo>
                <a:lnTo>
                  <a:pt x="0" y="453517"/>
                </a:lnTo>
                <a:lnTo>
                  <a:pt x="0" y="0"/>
                </a:lnTo>
                <a:lnTo>
                  <a:pt x="453517" y="0"/>
                </a:lnTo>
                <a:lnTo>
                  <a:pt x="453517" y="453517"/>
                </a:lnTo>
                <a:lnTo>
                  <a:pt x="226822" y="453517"/>
                </a:lnTo>
                <a:close/>
              </a:path>
            </a:pathLst>
          </a:custGeom>
          <a:noFill/>
          <a:ln w="18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06" name="Google Shape;206;p22"/>
          <p:cNvSpPr/>
          <p:nvPr/>
        </p:nvSpPr>
        <p:spPr>
          <a:xfrm>
            <a:off x="452159" y="9469440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 extrusionOk="0">
                <a:moveTo>
                  <a:pt x="226794" y="453513"/>
                </a:moveTo>
                <a:lnTo>
                  <a:pt x="0" y="453513"/>
                </a:lnTo>
                <a:lnTo>
                  <a:pt x="0" y="0"/>
                </a:lnTo>
                <a:lnTo>
                  <a:pt x="453588" y="0"/>
                </a:lnTo>
                <a:lnTo>
                  <a:pt x="453588" y="453513"/>
                </a:lnTo>
                <a:lnTo>
                  <a:pt x="226794" y="453513"/>
                </a:lnTo>
                <a:close/>
              </a:path>
            </a:pathLst>
          </a:custGeom>
          <a:noFill/>
          <a:ln w="18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07" name="Google Shape;207;p22"/>
          <p:cNvSpPr/>
          <p:nvPr/>
        </p:nvSpPr>
        <p:spPr>
          <a:xfrm>
            <a:off x="1199500" y="9469440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 extrusionOk="0">
                <a:moveTo>
                  <a:pt x="226798" y="453513"/>
                </a:moveTo>
                <a:lnTo>
                  <a:pt x="0" y="453513"/>
                </a:lnTo>
                <a:lnTo>
                  <a:pt x="0" y="0"/>
                </a:lnTo>
                <a:lnTo>
                  <a:pt x="453587" y="0"/>
                </a:lnTo>
                <a:lnTo>
                  <a:pt x="453587" y="453513"/>
                </a:lnTo>
                <a:lnTo>
                  <a:pt x="226798" y="453513"/>
                </a:lnTo>
                <a:close/>
              </a:path>
            </a:pathLst>
          </a:custGeom>
          <a:noFill/>
          <a:ln w="18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08" name="Google Shape;208;p22"/>
          <p:cNvSpPr/>
          <p:nvPr/>
        </p:nvSpPr>
        <p:spPr>
          <a:xfrm>
            <a:off x="9134792" y="9469456"/>
            <a:ext cx="7757159" cy="20320"/>
          </a:xfrm>
          <a:custGeom>
            <a:avLst/>
            <a:gdLst/>
            <a:ahLst/>
            <a:cxnLst/>
            <a:rect l="l" t="t" r="r" b="b"/>
            <a:pathLst>
              <a:path w="7757159" h="20320" extrusionOk="0">
                <a:moveTo>
                  <a:pt x="7756588" y="1447"/>
                </a:moveTo>
                <a:lnTo>
                  <a:pt x="0" y="0"/>
                </a:lnTo>
                <a:lnTo>
                  <a:pt x="0" y="18719"/>
                </a:lnTo>
                <a:lnTo>
                  <a:pt x="7756588" y="20167"/>
                </a:lnTo>
                <a:lnTo>
                  <a:pt x="7756588" y="144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209" name="Google Shape;20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8362" y="624949"/>
            <a:ext cx="8665362" cy="394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79574" y="5468013"/>
            <a:ext cx="8804101" cy="3820818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10146275" y="621113"/>
            <a:ext cx="7096200" cy="48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With TFIDF also the ISOT dataset has the </a:t>
            </a:r>
            <a:r>
              <a:rPr lang="en-US" sz="3400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highest accuracies 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, random forest is getting more accurate output in case of ISOT dataset.</a:t>
            </a: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Between TFIDF and Count, the </a:t>
            </a:r>
            <a:r>
              <a:rPr lang="en-US" sz="3400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Count-</a:t>
            </a:r>
            <a:r>
              <a:rPr lang="en-US" sz="3400" dirty="0" err="1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ngram</a:t>
            </a:r>
            <a:r>
              <a:rPr lang="en-US" sz="3400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is getting the best accuracy results</a:t>
            </a: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740375" y="5637075"/>
            <a:ext cx="7511700" cy="28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With Vader feature we can see that </a:t>
            </a:r>
            <a:r>
              <a:rPr lang="en-US" sz="340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very less accurate</a:t>
            </a:r>
            <a:r>
              <a:rPr lang="en-US" sz="340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 results are coming.</a:t>
            </a: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This shows that vader alone is not good to classify some text as fake news.</a:t>
            </a: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748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/>
          <p:nvPr/>
        </p:nvSpPr>
        <p:spPr>
          <a:xfrm>
            <a:off x="4885989" y="9320090"/>
            <a:ext cx="8256269" cy="20320"/>
          </a:xfrm>
          <a:custGeom>
            <a:avLst/>
            <a:gdLst/>
            <a:ahLst/>
            <a:cxnLst/>
            <a:rect l="l" t="t" r="r" b="b"/>
            <a:pathLst>
              <a:path w="8256269" h="20320" extrusionOk="0">
                <a:moveTo>
                  <a:pt x="8256257" y="1435"/>
                </a:moveTo>
                <a:lnTo>
                  <a:pt x="0" y="0"/>
                </a:lnTo>
                <a:lnTo>
                  <a:pt x="0" y="18707"/>
                </a:lnTo>
                <a:lnTo>
                  <a:pt x="8256257" y="20154"/>
                </a:lnTo>
                <a:lnTo>
                  <a:pt x="8256257" y="14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19" name="Google Shape;219;p23"/>
          <p:cNvSpPr/>
          <p:nvPr/>
        </p:nvSpPr>
        <p:spPr>
          <a:xfrm>
            <a:off x="2376600" y="8988648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 extrusionOk="0">
                <a:moveTo>
                  <a:pt x="226804" y="453512"/>
                </a:moveTo>
                <a:lnTo>
                  <a:pt x="0" y="453512"/>
                </a:lnTo>
                <a:lnTo>
                  <a:pt x="0" y="0"/>
                </a:lnTo>
                <a:lnTo>
                  <a:pt x="453595" y="0"/>
                </a:lnTo>
                <a:lnTo>
                  <a:pt x="453595" y="453512"/>
                </a:lnTo>
                <a:lnTo>
                  <a:pt x="226804" y="453512"/>
                </a:lnTo>
                <a:close/>
              </a:path>
            </a:pathLst>
          </a:custGeom>
          <a:noFill/>
          <a:ln w="18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20" name="Google Shape;220;p23"/>
          <p:cNvSpPr/>
          <p:nvPr/>
        </p:nvSpPr>
        <p:spPr>
          <a:xfrm>
            <a:off x="864586" y="8988648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 extrusionOk="0">
                <a:moveTo>
                  <a:pt x="226804" y="453512"/>
                </a:moveTo>
                <a:lnTo>
                  <a:pt x="0" y="453512"/>
                </a:lnTo>
                <a:lnTo>
                  <a:pt x="0" y="0"/>
                </a:lnTo>
                <a:lnTo>
                  <a:pt x="453595" y="0"/>
                </a:lnTo>
                <a:lnTo>
                  <a:pt x="453595" y="453512"/>
                </a:lnTo>
                <a:lnTo>
                  <a:pt x="226804" y="453512"/>
                </a:lnTo>
                <a:close/>
              </a:path>
            </a:pathLst>
          </a:custGeom>
          <a:noFill/>
          <a:ln w="18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21" name="Google Shape;221;p23"/>
          <p:cNvSpPr/>
          <p:nvPr/>
        </p:nvSpPr>
        <p:spPr>
          <a:xfrm>
            <a:off x="1524622" y="8988648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 extrusionOk="0">
                <a:moveTo>
                  <a:pt x="226791" y="453512"/>
                </a:moveTo>
                <a:lnTo>
                  <a:pt x="0" y="453512"/>
                </a:lnTo>
                <a:lnTo>
                  <a:pt x="0" y="0"/>
                </a:lnTo>
                <a:lnTo>
                  <a:pt x="453595" y="0"/>
                </a:lnTo>
                <a:lnTo>
                  <a:pt x="453595" y="453512"/>
                </a:lnTo>
                <a:lnTo>
                  <a:pt x="226791" y="453512"/>
                </a:lnTo>
                <a:close/>
              </a:path>
            </a:pathLst>
          </a:custGeom>
          <a:noFill/>
          <a:ln w="18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22" name="Google Shape;222;p23"/>
          <p:cNvSpPr txBox="1"/>
          <p:nvPr/>
        </p:nvSpPr>
        <p:spPr>
          <a:xfrm>
            <a:off x="632125" y="1026100"/>
            <a:ext cx="7749900" cy="43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Here also ISOT is dominating in accuracy </a:t>
            </a: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The NB classifier is still generalizing better than the RF classifier. The results from lemma are better than some of the other features.</a:t>
            </a: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46838" y="1026100"/>
            <a:ext cx="8715375" cy="40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 txBox="1"/>
          <p:nvPr/>
        </p:nvSpPr>
        <p:spPr>
          <a:xfrm>
            <a:off x="632125" y="6070025"/>
            <a:ext cx="152832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From the above results some general conclusions can be made which are described in further slides </a:t>
            </a:r>
            <a:endParaRPr sz="3400" b="1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4"/>
          <p:cNvSpPr/>
          <p:nvPr/>
        </p:nvSpPr>
        <p:spPr>
          <a:xfrm>
            <a:off x="4885989" y="9320090"/>
            <a:ext cx="8256269" cy="20320"/>
          </a:xfrm>
          <a:custGeom>
            <a:avLst/>
            <a:gdLst/>
            <a:ahLst/>
            <a:cxnLst/>
            <a:rect l="l" t="t" r="r" b="b"/>
            <a:pathLst>
              <a:path w="8256269" h="20320" extrusionOk="0">
                <a:moveTo>
                  <a:pt x="8256257" y="1435"/>
                </a:moveTo>
                <a:lnTo>
                  <a:pt x="0" y="0"/>
                </a:lnTo>
                <a:lnTo>
                  <a:pt x="0" y="18707"/>
                </a:lnTo>
                <a:lnTo>
                  <a:pt x="8256257" y="20154"/>
                </a:lnTo>
                <a:lnTo>
                  <a:pt x="8256257" y="14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31" name="Google Shape;231;p24"/>
          <p:cNvSpPr/>
          <p:nvPr/>
        </p:nvSpPr>
        <p:spPr>
          <a:xfrm>
            <a:off x="2376600" y="8988648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 extrusionOk="0">
                <a:moveTo>
                  <a:pt x="226804" y="453512"/>
                </a:moveTo>
                <a:lnTo>
                  <a:pt x="0" y="453512"/>
                </a:lnTo>
                <a:lnTo>
                  <a:pt x="0" y="0"/>
                </a:lnTo>
                <a:lnTo>
                  <a:pt x="453595" y="0"/>
                </a:lnTo>
                <a:lnTo>
                  <a:pt x="453595" y="453512"/>
                </a:lnTo>
                <a:lnTo>
                  <a:pt x="226804" y="453512"/>
                </a:lnTo>
                <a:close/>
              </a:path>
            </a:pathLst>
          </a:custGeom>
          <a:noFill/>
          <a:ln w="18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32" name="Google Shape;232;p24"/>
          <p:cNvSpPr/>
          <p:nvPr/>
        </p:nvSpPr>
        <p:spPr>
          <a:xfrm>
            <a:off x="864586" y="8988648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 extrusionOk="0">
                <a:moveTo>
                  <a:pt x="226804" y="453512"/>
                </a:moveTo>
                <a:lnTo>
                  <a:pt x="0" y="453512"/>
                </a:lnTo>
                <a:lnTo>
                  <a:pt x="0" y="0"/>
                </a:lnTo>
                <a:lnTo>
                  <a:pt x="453595" y="0"/>
                </a:lnTo>
                <a:lnTo>
                  <a:pt x="453595" y="453512"/>
                </a:lnTo>
                <a:lnTo>
                  <a:pt x="226804" y="453512"/>
                </a:lnTo>
                <a:close/>
              </a:path>
            </a:pathLst>
          </a:custGeom>
          <a:noFill/>
          <a:ln w="18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33" name="Google Shape;233;p24"/>
          <p:cNvSpPr/>
          <p:nvPr/>
        </p:nvSpPr>
        <p:spPr>
          <a:xfrm>
            <a:off x="1524622" y="8988648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 extrusionOk="0">
                <a:moveTo>
                  <a:pt x="226791" y="453512"/>
                </a:moveTo>
                <a:lnTo>
                  <a:pt x="0" y="453512"/>
                </a:lnTo>
                <a:lnTo>
                  <a:pt x="0" y="0"/>
                </a:lnTo>
                <a:lnTo>
                  <a:pt x="453595" y="0"/>
                </a:lnTo>
                <a:lnTo>
                  <a:pt x="453595" y="453512"/>
                </a:lnTo>
                <a:lnTo>
                  <a:pt x="226791" y="453512"/>
                </a:lnTo>
                <a:close/>
              </a:path>
            </a:pathLst>
          </a:custGeom>
          <a:noFill/>
          <a:ln w="18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34" name="Google Shape;234;p24"/>
          <p:cNvSpPr txBox="1"/>
          <p:nvPr/>
        </p:nvSpPr>
        <p:spPr>
          <a:xfrm>
            <a:off x="677845" y="1032010"/>
            <a:ext cx="7620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4200" b="1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sz="4200" b="1" dirty="0">
              <a:solidFill>
                <a:srgbClr val="F2F2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28200" y="3922075"/>
            <a:ext cx="6760025" cy="3854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 txBox="1"/>
          <p:nvPr/>
        </p:nvSpPr>
        <p:spPr>
          <a:xfrm>
            <a:off x="864575" y="1978600"/>
            <a:ext cx="16501200" cy="6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 err="1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) As the ISOT dataset was achieving much more accuracy compared to other datasets , it means that the classifiers are </a:t>
            </a:r>
            <a:r>
              <a:rPr lang="en-US" sz="3400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detecting some pattern in ISOT which is not being done with other datasets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. Which is the major drawback here. </a:t>
            </a: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rgbClr val="A2A2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ii) Other observation was  that more accurate results</a:t>
            </a: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were coming with the original dataset which was used </a:t>
            </a: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in this research compared to </a:t>
            </a:r>
            <a:r>
              <a:rPr lang="en-US" sz="3400" dirty="0" err="1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FakeNewsNet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 Dataset.         </a:t>
            </a: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iii) With respect to features it can be concluded that </a:t>
            </a: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better results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 were coming with </a:t>
            </a:r>
            <a:r>
              <a:rPr lang="en-US" sz="3400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 count and TFIDF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 com-</a:t>
            </a: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pared to </a:t>
            </a:r>
            <a:r>
              <a:rPr lang="en-US" sz="3400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VADER , ER , Lemma , POS etc. </a:t>
            </a:r>
            <a:endParaRPr sz="3400" dirty="0">
              <a:solidFill>
                <a:srgbClr val="F2F2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rgbClr val="F2F2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5"/>
          <p:cNvSpPr/>
          <p:nvPr/>
        </p:nvSpPr>
        <p:spPr>
          <a:xfrm>
            <a:off x="4885989" y="9320090"/>
            <a:ext cx="8256269" cy="20320"/>
          </a:xfrm>
          <a:custGeom>
            <a:avLst/>
            <a:gdLst/>
            <a:ahLst/>
            <a:cxnLst/>
            <a:rect l="l" t="t" r="r" b="b"/>
            <a:pathLst>
              <a:path w="8256269" h="20320" extrusionOk="0">
                <a:moveTo>
                  <a:pt x="8256257" y="1435"/>
                </a:moveTo>
                <a:lnTo>
                  <a:pt x="0" y="0"/>
                </a:lnTo>
                <a:lnTo>
                  <a:pt x="0" y="18707"/>
                </a:lnTo>
                <a:lnTo>
                  <a:pt x="8256257" y="20154"/>
                </a:lnTo>
                <a:lnTo>
                  <a:pt x="8256257" y="14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43" name="Google Shape;243;p25"/>
          <p:cNvSpPr/>
          <p:nvPr/>
        </p:nvSpPr>
        <p:spPr>
          <a:xfrm>
            <a:off x="2376600" y="8988648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 extrusionOk="0">
                <a:moveTo>
                  <a:pt x="226804" y="453512"/>
                </a:moveTo>
                <a:lnTo>
                  <a:pt x="0" y="453512"/>
                </a:lnTo>
                <a:lnTo>
                  <a:pt x="0" y="0"/>
                </a:lnTo>
                <a:lnTo>
                  <a:pt x="453595" y="0"/>
                </a:lnTo>
                <a:lnTo>
                  <a:pt x="453595" y="453512"/>
                </a:lnTo>
                <a:lnTo>
                  <a:pt x="226804" y="453512"/>
                </a:lnTo>
                <a:close/>
              </a:path>
            </a:pathLst>
          </a:custGeom>
          <a:noFill/>
          <a:ln w="18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44" name="Google Shape;244;p25"/>
          <p:cNvSpPr/>
          <p:nvPr/>
        </p:nvSpPr>
        <p:spPr>
          <a:xfrm>
            <a:off x="864586" y="8988648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 extrusionOk="0">
                <a:moveTo>
                  <a:pt x="226804" y="453512"/>
                </a:moveTo>
                <a:lnTo>
                  <a:pt x="0" y="453512"/>
                </a:lnTo>
                <a:lnTo>
                  <a:pt x="0" y="0"/>
                </a:lnTo>
                <a:lnTo>
                  <a:pt x="453595" y="0"/>
                </a:lnTo>
                <a:lnTo>
                  <a:pt x="453595" y="453512"/>
                </a:lnTo>
                <a:lnTo>
                  <a:pt x="226804" y="453512"/>
                </a:lnTo>
                <a:close/>
              </a:path>
            </a:pathLst>
          </a:custGeom>
          <a:noFill/>
          <a:ln w="18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45" name="Google Shape;245;p25"/>
          <p:cNvSpPr/>
          <p:nvPr/>
        </p:nvSpPr>
        <p:spPr>
          <a:xfrm>
            <a:off x="1524622" y="8988648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 extrusionOk="0">
                <a:moveTo>
                  <a:pt x="226791" y="453512"/>
                </a:moveTo>
                <a:lnTo>
                  <a:pt x="0" y="453512"/>
                </a:lnTo>
                <a:lnTo>
                  <a:pt x="0" y="0"/>
                </a:lnTo>
                <a:lnTo>
                  <a:pt x="453595" y="0"/>
                </a:lnTo>
                <a:lnTo>
                  <a:pt x="453595" y="453512"/>
                </a:lnTo>
                <a:lnTo>
                  <a:pt x="226791" y="453512"/>
                </a:lnTo>
                <a:close/>
              </a:path>
            </a:pathLst>
          </a:custGeom>
          <a:noFill/>
          <a:ln w="18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46" name="Google Shape;246;p25"/>
          <p:cNvSpPr txBox="1"/>
          <p:nvPr/>
        </p:nvSpPr>
        <p:spPr>
          <a:xfrm>
            <a:off x="632125" y="1026100"/>
            <a:ext cx="7620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  Future Work</a:t>
            </a:r>
            <a:endParaRPr sz="4200" b="1" dirty="0">
              <a:solidFill>
                <a:srgbClr val="F2F2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 txBox="1"/>
          <p:nvPr/>
        </p:nvSpPr>
        <p:spPr>
          <a:xfrm>
            <a:off x="864575" y="1978600"/>
            <a:ext cx="16501200" cy="59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 err="1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) Some </a:t>
            </a:r>
            <a:r>
              <a:rPr lang="en-US" sz="3400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different dataset should be used to train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 classifiers instead of ISOT . But due to the size of ISOT , it is a valuable dataset which can be now used for testing purposes.</a:t>
            </a: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ii) </a:t>
            </a:r>
            <a:r>
              <a:rPr lang="en-US" sz="3400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Combinations of features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 should be tested </a:t>
            </a:r>
            <a:r>
              <a:rPr lang="en-US" sz="3400" dirty="0" err="1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i.e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 we should combine one or more features</a:t>
            </a: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3400" dirty="0" err="1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eg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: ER with lemma) and then pass them to get classified. As we can see from the output that </a:t>
            </a:r>
            <a:r>
              <a:rPr lang="en-US" sz="3400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combined features can produce results with better accuracy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dirty="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iii) We should also try to build a model  which can classify between </a:t>
            </a:r>
            <a:r>
              <a:rPr lang="en-US" sz="3400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real news , fake news , and a satire , 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it would be beneficial as </a:t>
            </a:r>
            <a:r>
              <a:rPr lang="en-US" sz="3400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satire is type of deceptive news</a:t>
            </a:r>
            <a:r>
              <a:rPr lang="en-US" sz="3400" dirty="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 which isn't actually fake. By doing this we will get a better understanding how to </a:t>
            </a:r>
            <a:r>
              <a:rPr lang="en-US" sz="3400" dirty="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accurately identify fake texts.</a:t>
            </a:r>
            <a:endParaRPr sz="3400" dirty="0">
              <a:solidFill>
                <a:srgbClr val="F2F2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1691775" y="1557143"/>
            <a:ext cx="14181000" cy="64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F2F282"/>
                </a:solidFill>
              </a:rPr>
              <a:t>References</a:t>
            </a:r>
            <a:r>
              <a:rPr lang="en-US" sz="4200"/>
              <a:t> </a:t>
            </a:r>
            <a:endParaRPr sz="4200"/>
          </a:p>
        </p:txBody>
      </p:sp>
      <p:sp>
        <p:nvSpPr>
          <p:cNvPr id="65" name="Google Shape;65;p9"/>
          <p:cNvSpPr txBox="1"/>
          <p:nvPr/>
        </p:nvSpPr>
        <p:spPr>
          <a:xfrm>
            <a:off x="2883475" y="3948550"/>
            <a:ext cx="11088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9"/>
          <p:cNvSpPr txBox="1"/>
          <p:nvPr/>
        </p:nvSpPr>
        <p:spPr>
          <a:xfrm>
            <a:off x="1691775" y="3299125"/>
            <a:ext cx="15501000" cy="3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44500" algn="l" rtl="0">
              <a:spcBef>
                <a:spcPts val="0"/>
              </a:spcBef>
              <a:spcAft>
                <a:spcPts val="0"/>
              </a:spcAft>
              <a:buClr>
                <a:srgbClr val="91EBCD"/>
              </a:buClr>
              <a:buSzPts val="3400"/>
              <a:buFont typeface="Calibri"/>
              <a:buAutoNum type="arabicParenR"/>
            </a:pPr>
            <a:r>
              <a:rPr lang="en-US" sz="340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Data Science and Analytics: An Overview from Data‑Driven Smart Computing, Decision‑Making and Applications Perspective . SN Computer Science (2021) 2:377 https://doi.org/10.1007/s42979-021-00765-8</a:t>
            </a: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44500" algn="l" rtl="0">
              <a:spcBef>
                <a:spcPts val="0"/>
              </a:spcBef>
              <a:spcAft>
                <a:spcPts val="0"/>
              </a:spcAft>
              <a:buClr>
                <a:srgbClr val="91EBCD"/>
              </a:buClr>
              <a:buSzPts val="3400"/>
              <a:buFont typeface="Calibri"/>
              <a:buAutoNum type="arabicParenR"/>
            </a:pPr>
            <a:r>
              <a:rPr lang="en-US" sz="340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Shoemaker, Eliza, "Using data science to detect fake news" (2019). Senior Honors Projects, 2010-current. 714. https://commons.lib.jmu.edu/honors201019/714</a:t>
            </a:r>
            <a:endParaRPr sz="3400">
              <a:solidFill>
                <a:srgbClr val="91EB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6"/>
          <p:cNvGrpSpPr/>
          <p:nvPr/>
        </p:nvGrpSpPr>
        <p:grpSpPr>
          <a:xfrm>
            <a:off x="342884" y="505777"/>
            <a:ext cx="17355185" cy="9275445"/>
            <a:chOff x="466559" y="506152"/>
            <a:chExt cx="17355185" cy="9275445"/>
          </a:xfrm>
        </p:grpSpPr>
        <p:sp>
          <p:nvSpPr>
            <p:cNvPr id="254" name="Google Shape;254;p26"/>
            <p:cNvSpPr/>
            <p:nvPr/>
          </p:nvSpPr>
          <p:spPr>
            <a:xfrm>
              <a:off x="466559" y="506152"/>
              <a:ext cx="17355185" cy="9275445"/>
            </a:xfrm>
            <a:custGeom>
              <a:avLst/>
              <a:gdLst/>
              <a:ahLst/>
              <a:cxnLst/>
              <a:rect l="l" t="t" r="r" b="b"/>
              <a:pathLst>
                <a:path w="17355185" h="9275445" extrusionOk="0">
                  <a:moveTo>
                    <a:pt x="8677427" y="9275008"/>
                  </a:moveTo>
                  <a:lnTo>
                    <a:pt x="0" y="9275008"/>
                  </a:lnTo>
                  <a:lnTo>
                    <a:pt x="0" y="0"/>
                  </a:lnTo>
                  <a:lnTo>
                    <a:pt x="17354842" y="0"/>
                  </a:lnTo>
                  <a:lnTo>
                    <a:pt x="17354842" y="9275008"/>
                  </a:lnTo>
                  <a:lnTo>
                    <a:pt x="8677427" y="9275008"/>
                  </a:lnTo>
                  <a:close/>
                </a:path>
              </a:pathLst>
            </a:custGeom>
            <a:noFill/>
            <a:ln w="18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55" name="Google Shape;255;p26"/>
            <p:cNvSpPr/>
            <p:nvPr/>
          </p:nvSpPr>
          <p:spPr>
            <a:xfrm>
              <a:off x="972716" y="8007126"/>
              <a:ext cx="454025" cy="1200785"/>
            </a:xfrm>
            <a:custGeom>
              <a:avLst/>
              <a:gdLst/>
              <a:ahLst/>
              <a:cxnLst/>
              <a:rect l="l" t="t" r="r" b="b"/>
              <a:pathLst>
                <a:path w="454025" h="1200784" extrusionOk="0">
                  <a:moveTo>
                    <a:pt x="0" y="226787"/>
                  </a:moveTo>
                  <a:lnTo>
                    <a:pt x="0" y="0"/>
                  </a:lnTo>
                  <a:lnTo>
                    <a:pt x="453520" y="0"/>
                  </a:lnTo>
                  <a:lnTo>
                    <a:pt x="453520" y="453574"/>
                  </a:lnTo>
                  <a:lnTo>
                    <a:pt x="0" y="453574"/>
                  </a:lnTo>
                  <a:lnTo>
                    <a:pt x="0" y="226787"/>
                  </a:lnTo>
                  <a:close/>
                </a:path>
                <a:path w="454025" h="1200784" extrusionOk="0">
                  <a:moveTo>
                    <a:pt x="0" y="973383"/>
                  </a:moveTo>
                  <a:lnTo>
                    <a:pt x="0" y="746596"/>
                  </a:lnTo>
                  <a:lnTo>
                    <a:pt x="453520" y="746596"/>
                  </a:lnTo>
                  <a:lnTo>
                    <a:pt x="453520" y="1200178"/>
                  </a:lnTo>
                  <a:lnTo>
                    <a:pt x="0" y="1200178"/>
                  </a:lnTo>
                  <a:lnTo>
                    <a:pt x="0" y="973383"/>
                  </a:lnTo>
                  <a:close/>
                </a:path>
              </a:pathLst>
            </a:custGeom>
            <a:noFill/>
            <a:ln w="18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56" name="Google Shape;256;p26"/>
            <p:cNvSpPr/>
            <p:nvPr/>
          </p:nvSpPr>
          <p:spPr>
            <a:xfrm>
              <a:off x="16862425" y="1079284"/>
              <a:ext cx="454025" cy="454025"/>
            </a:xfrm>
            <a:custGeom>
              <a:avLst/>
              <a:gdLst/>
              <a:ahLst/>
              <a:cxnLst/>
              <a:rect l="l" t="t" r="r" b="b"/>
              <a:pathLst>
                <a:path w="454025" h="454025" extrusionOk="0">
                  <a:moveTo>
                    <a:pt x="0" y="226745"/>
                  </a:moveTo>
                  <a:lnTo>
                    <a:pt x="0" y="0"/>
                  </a:lnTo>
                  <a:lnTo>
                    <a:pt x="453517" y="0"/>
                  </a:lnTo>
                  <a:lnTo>
                    <a:pt x="453517" y="453504"/>
                  </a:lnTo>
                  <a:lnTo>
                    <a:pt x="0" y="453504"/>
                  </a:lnTo>
                  <a:lnTo>
                    <a:pt x="0" y="226745"/>
                  </a:lnTo>
                  <a:close/>
                </a:path>
              </a:pathLst>
            </a:custGeom>
            <a:noFill/>
            <a:ln w="18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57" name="Google Shape;257;p26"/>
            <p:cNvSpPr/>
            <p:nvPr/>
          </p:nvSpPr>
          <p:spPr>
            <a:xfrm>
              <a:off x="5544024" y="3380074"/>
              <a:ext cx="7467431" cy="25959"/>
            </a:xfrm>
            <a:custGeom>
              <a:avLst/>
              <a:gdLst/>
              <a:ahLst/>
              <a:cxnLst/>
              <a:rect l="l" t="t" r="r" b="b"/>
              <a:pathLst>
                <a:path w="6579234" h="20320" extrusionOk="0">
                  <a:moveTo>
                    <a:pt x="6578638" y="1447"/>
                  </a:moveTo>
                  <a:lnTo>
                    <a:pt x="0" y="0"/>
                  </a:lnTo>
                  <a:lnTo>
                    <a:pt x="0" y="18719"/>
                  </a:lnTo>
                  <a:lnTo>
                    <a:pt x="6578638" y="20167"/>
                  </a:lnTo>
                  <a:lnTo>
                    <a:pt x="6578638" y="144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58" name="Google Shape;258;p26"/>
          <p:cNvSpPr txBox="1"/>
          <p:nvPr/>
        </p:nvSpPr>
        <p:spPr>
          <a:xfrm>
            <a:off x="6570641" y="3950044"/>
            <a:ext cx="5159400" cy="40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75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91EBCD"/>
                </a:solidFill>
                <a:latin typeface="Trebuchet MS"/>
                <a:ea typeface="Trebuchet MS"/>
                <a:cs typeface="Trebuchet MS"/>
                <a:sym typeface="Trebuchet MS"/>
              </a:rPr>
              <a:t>Name : Vaibhav Sodhi</a:t>
            </a:r>
            <a:endParaRPr sz="3800">
              <a:solidFill>
                <a:srgbClr val="91EBC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endParaRPr sz="3800">
              <a:solidFill>
                <a:srgbClr val="91EBC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rPr lang="en-US" sz="3550">
                <a:latin typeface="Trebuchet MS"/>
                <a:ea typeface="Trebuchet MS"/>
                <a:cs typeface="Trebuchet MS"/>
                <a:sym typeface="Trebuchet MS"/>
              </a:rPr>
              <a:t>  </a:t>
            </a:r>
            <a:r>
              <a:rPr lang="en-US" sz="3800">
                <a:solidFill>
                  <a:srgbClr val="91EBCD"/>
                </a:solidFill>
                <a:latin typeface="Trebuchet MS"/>
                <a:ea typeface="Trebuchet MS"/>
                <a:cs typeface="Trebuchet MS"/>
                <a:sym typeface="Trebuchet MS"/>
              </a:rPr>
              <a:t>MIS: 112215192</a:t>
            </a:r>
            <a:endParaRPr sz="3800">
              <a:solidFill>
                <a:srgbClr val="91EBC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endParaRPr sz="3800">
              <a:solidFill>
                <a:srgbClr val="91EBC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91EBCD"/>
                </a:solidFill>
                <a:latin typeface="Trebuchet MS"/>
                <a:ea typeface="Trebuchet MS"/>
                <a:cs typeface="Trebuchet MS"/>
                <a:sym typeface="Trebuchet MS"/>
              </a:rPr>
              <a:t>  Academic Year : 2nd </a:t>
            </a:r>
            <a:endParaRPr sz="3800">
              <a:solidFill>
                <a:srgbClr val="91EBC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endParaRPr sz="3400">
              <a:solidFill>
                <a:srgbClr val="91EBC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91EBCD"/>
                </a:solidFill>
                <a:latin typeface="Trebuchet MS"/>
                <a:ea typeface="Trebuchet MS"/>
                <a:cs typeface="Trebuchet MS"/>
                <a:sym typeface="Trebuchet MS"/>
              </a:rPr>
              <a:t>  </a:t>
            </a:r>
            <a:endParaRPr sz="3400">
              <a:solidFill>
                <a:srgbClr val="91EBCD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9" name="Google Shape;259;p26"/>
          <p:cNvSpPr txBox="1"/>
          <p:nvPr/>
        </p:nvSpPr>
        <p:spPr>
          <a:xfrm>
            <a:off x="3794750" y="1220925"/>
            <a:ext cx="10711200" cy="12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91EBCD"/>
                </a:solidFill>
                <a:latin typeface="Calibri"/>
                <a:ea typeface="Calibri"/>
                <a:cs typeface="Calibri"/>
                <a:sym typeface="Calibri"/>
              </a:rPr>
              <a:t>                     </a:t>
            </a:r>
            <a:r>
              <a:rPr lang="en-US" sz="6900">
                <a:solidFill>
                  <a:srgbClr val="F2F282"/>
                </a:solidFill>
                <a:latin typeface="Calibri"/>
                <a:ea typeface="Calibri"/>
                <a:cs typeface="Calibri"/>
                <a:sym typeface="Calibri"/>
              </a:rPr>
              <a:t>THANK  YOU !!</a:t>
            </a:r>
            <a:endParaRPr sz="6900">
              <a:solidFill>
                <a:srgbClr val="F2F2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1006</TotalTime>
  <Words>1700</Words>
  <Application>Microsoft Office PowerPoint</Application>
  <PresentationFormat>Custom</PresentationFormat>
  <Paragraphs>175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Georgia</vt:lpstr>
      <vt:lpstr>Trebuchet MS</vt:lpstr>
      <vt:lpstr>Verdana</vt:lpstr>
      <vt:lpstr>Office Theme</vt:lpstr>
      <vt:lpstr>Indian Institute Of Information Technology Pune             Department of Computer Science and Engineering       </vt:lpstr>
      <vt:lpstr>Overview:</vt:lpstr>
      <vt:lpstr>PowerPoint Presentation</vt:lpstr>
      <vt:lpstr>PowerPoint Presentation</vt:lpstr>
      <vt:lpstr>PowerPoint Presentation</vt:lpstr>
      <vt:lpstr>PowerPoint Presentation</vt:lpstr>
      <vt:lpstr>               Introduction to Problem Statement</vt:lpstr>
      <vt:lpstr>PowerPoint Presentation</vt:lpstr>
      <vt:lpstr>Dataset required</vt:lpstr>
      <vt:lpstr>Features (Step 1)</vt:lpstr>
      <vt:lpstr>PowerPoint Presentation</vt:lpstr>
      <vt:lpstr>Classifiers (Step 2)</vt:lpstr>
      <vt:lpstr>PowerPoint Presentation</vt:lpstr>
      <vt:lpstr>Results</vt:lpstr>
      <vt:lpstr>PowerPoint Presentation</vt:lpstr>
      <vt:lpstr>PowerPoint Presentation</vt:lpstr>
      <vt:lpstr>PowerPoint Presentation</vt:lpstr>
      <vt:lpstr>PowerPoint Presentation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 Institute Of Information Technology Pune    Department of Computer Science and Engineering       </dc:title>
  <cp:lastModifiedBy>Vaibhav Sodhi</cp:lastModifiedBy>
  <cp:revision>11</cp:revision>
  <dcterms:modified xsi:type="dcterms:W3CDTF">2025-03-16T12:04:39Z</dcterms:modified>
</cp:coreProperties>
</file>